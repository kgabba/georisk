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7"/>
  </p:notesMasterIdLst>
  <p:sldIdLst>
    <p:sldId id="257" r:id="rId2"/>
    <p:sldId id="261" r:id="rId3"/>
    <p:sldId id="256" r:id="rId4"/>
    <p:sldId id="259" r:id="rId5"/>
    <p:sldId id="260" r:id="rId6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861" autoAdjust="0"/>
  </p:normalViewPr>
  <p:slideViewPr>
    <p:cSldViewPr snapToGrid="0">
      <p:cViewPr>
        <p:scale>
          <a:sx n="75" d="100"/>
          <a:sy n="75" d="100"/>
        </p:scale>
        <p:origin x="2205" y="2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76225F-2D67-43C4-B54C-06F9FE22719D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87593C-1A7E-4D8F-B3E3-5CDD192AC3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33816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CFDDD3-2120-38BD-2903-52BFAE714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EA3E34-F4C4-5852-6A40-278FFD1DE7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43337E-7347-66DE-CF19-C3E77CEF2D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24EE0-0651-4C23-7B8F-889E5604A6A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8914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87593C-1A7E-4D8F-B3E3-5CDD192AC3E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3002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6976" y="1749795"/>
            <a:ext cx="6425724" cy="3722335"/>
          </a:xfrm>
        </p:spPr>
        <p:txBody>
          <a:bodyPr anchor="b"/>
          <a:lstStyle>
            <a:lvl1pPr algn="ctr">
              <a:defRPr sz="496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4960" y="5615678"/>
            <a:ext cx="5669756" cy="2581379"/>
          </a:xfrm>
        </p:spPr>
        <p:txBody>
          <a:bodyPr/>
          <a:lstStyle>
            <a:lvl1pPr marL="0" indent="0" algn="ctr">
              <a:buNone/>
              <a:defRPr sz="1984"/>
            </a:lvl1pPr>
            <a:lvl2pPr marL="377967" indent="0" algn="ctr">
              <a:buNone/>
              <a:defRPr sz="1653"/>
            </a:lvl2pPr>
            <a:lvl3pPr marL="755934" indent="0" algn="ctr">
              <a:buNone/>
              <a:defRPr sz="1488"/>
            </a:lvl3pPr>
            <a:lvl4pPr marL="1133902" indent="0" algn="ctr">
              <a:buNone/>
              <a:defRPr sz="1323"/>
            </a:lvl4pPr>
            <a:lvl5pPr marL="1511869" indent="0" algn="ctr">
              <a:buNone/>
              <a:defRPr sz="1323"/>
            </a:lvl5pPr>
            <a:lvl6pPr marL="1889836" indent="0" algn="ctr">
              <a:buNone/>
              <a:defRPr sz="1323"/>
            </a:lvl6pPr>
            <a:lvl7pPr marL="2267803" indent="0" algn="ctr">
              <a:buNone/>
              <a:defRPr sz="1323"/>
            </a:lvl7pPr>
            <a:lvl8pPr marL="2645771" indent="0" algn="ctr">
              <a:buNone/>
              <a:defRPr sz="1323"/>
            </a:lvl8pPr>
            <a:lvl9pPr marL="3023738" indent="0" algn="ctr">
              <a:buNone/>
              <a:defRPr sz="1323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60031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04252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791" y="2665532"/>
            <a:ext cx="6520220" cy="4447496"/>
          </a:xfrm>
        </p:spPr>
        <p:txBody>
          <a:bodyPr anchor="b"/>
          <a:lstStyle>
            <a:lvl1pPr>
              <a:defRPr sz="496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791" y="7155103"/>
            <a:ext cx="6520220" cy="2338833"/>
          </a:xfrm>
        </p:spPr>
        <p:txBody>
          <a:bodyPr/>
          <a:lstStyle>
            <a:lvl1pPr marL="0" indent="0">
              <a:buNone/>
              <a:defRPr sz="1984">
                <a:solidFill>
                  <a:schemeClr val="tx1">
                    <a:tint val="82000"/>
                  </a:schemeClr>
                </a:solidFill>
              </a:defRPr>
            </a:lvl1pPr>
            <a:lvl2pPr marL="377967" indent="0">
              <a:buNone/>
              <a:defRPr sz="1653">
                <a:solidFill>
                  <a:schemeClr val="tx1">
                    <a:tint val="82000"/>
                  </a:schemeClr>
                </a:solidFill>
              </a:defRPr>
            </a:lvl2pPr>
            <a:lvl3pPr marL="755934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390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18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8983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780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577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3738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15656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728" y="2846200"/>
            <a:ext cx="3212862" cy="678385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085" y="2846200"/>
            <a:ext cx="3212862" cy="6783857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8982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569242"/>
            <a:ext cx="6520220" cy="206659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713" y="2620980"/>
            <a:ext cx="3198096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713" y="3905482"/>
            <a:ext cx="3198096" cy="574437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086" y="2620980"/>
            <a:ext cx="3213847" cy="1284502"/>
          </a:xfrm>
        </p:spPr>
        <p:txBody>
          <a:bodyPr anchor="b"/>
          <a:lstStyle>
            <a:lvl1pPr marL="0" indent="0">
              <a:buNone/>
              <a:defRPr sz="1984" b="1"/>
            </a:lvl1pPr>
            <a:lvl2pPr marL="377967" indent="0">
              <a:buNone/>
              <a:defRPr sz="1653" b="1"/>
            </a:lvl2pPr>
            <a:lvl3pPr marL="755934" indent="0">
              <a:buNone/>
              <a:defRPr sz="1488" b="1"/>
            </a:lvl3pPr>
            <a:lvl4pPr marL="1133902" indent="0">
              <a:buNone/>
              <a:defRPr sz="1323" b="1"/>
            </a:lvl4pPr>
            <a:lvl5pPr marL="1511869" indent="0">
              <a:buNone/>
              <a:defRPr sz="1323" b="1"/>
            </a:lvl5pPr>
            <a:lvl6pPr marL="1889836" indent="0">
              <a:buNone/>
              <a:defRPr sz="1323" b="1"/>
            </a:lvl6pPr>
            <a:lvl7pPr marL="2267803" indent="0">
              <a:buNone/>
              <a:defRPr sz="1323" b="1"/>
            </a:lvl7pPr>
            <a:lvl8pPr marL="2645771" indent="0">
              <a:buNone/>
              <a:defRPr sz="1323" b="1"/>
            </a:lvl8pPr>
            <a:lvl9pPr marL="3023738" indent="0">
              <a:buNone/>
              <a:defRPr sz="132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086" y="3905482"/>
            <a:ext cx="3213847" cy="574437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4939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3912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18927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3847" y="1539425"/>
            <a:ext cx="3827085" cy="7598117"/>
          </a:xfrm>
        </p:spPr>
        <p:txBody>
          <a:bodyPr/>
          <a:lstStyle>
            <a:lvl1pPr>
              <a:defRPr sz="2645"/>
            </a:lvl1pPr>
            <a:lvl2pPr>
              <a:defRPr sz="2315"/>
            </a:lvl2pPr>
            <a:lvl3pPr>
              <a:defRPr sz="1984"/>
            </a:lvl3pPr>
            <a:lvl4pPr>
              <a:defRPr sz="1653"/>
            </a:lvl4pPr>
            <a:lvl5pPr>
              <a:defRPr sz="1653"/>
            </a:lvl5pPr>
            <a:lvl6pPr>
              <a:defRPr sz="1653"/>
            </a:lvl6pPr>
            <a:lvl7pPr>
              <a:defRPr sz="1653"/>
            </a:lvl7pPr>
            <a:lvl8pPr>
              <a:defRPr sz="1653"/>
            </a:lvl8pPr>
            <a:lvl9pPr>
              <a:defRPr sz="1653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89525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712" y="712788"/>
            <a:ext cx="2438192" cy="2494756"/>
          </a:xfrm>
        </p:spPr>
        <p:txBody>
          <a:bodyPr anchor="b"/>
          <a:lstStyle>
            <a:lvl1pPr>
              <a:defRPr sz="2645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3847" y="1539425"/>
            <a:ext cx="3827085" cy="7598117"/>
          </a:xfrm>
        </p:spPr>
        <p:txBody>
          <a:bodyPr anchor="t"/>
          <a:lstStyle>
            <a:lvl1pPr marL="0" indent="0">
              <a:buNone/>
              <a:defRPr sz="2645"/>
            </a:lvl1pPr>
            <a:lvl2pPr marL="377967" indent="0">
              <a:buNone/>
              <a:defRPr sz="2315"/>
            </a:lvl2pPr>
            <a:lvl3pPr marL="755934" indent="0">
              <a:buNone/>
              <a:defRPr sz="1984"/>
            </a:lvl3pPr>
            <a:lvl4pPr marL="1133902" indent="0">
              <a:buNone/>
              <a:defRPr sz="1653"/>
            </a:lvl4pPr>
            <a:lvl5pPr marL="1511869" indent="0">
              <a:buNone/>
              <a:defRPr sz="1653"/>
            </a:lvl5pPr>
            <a:lvl6pPr marL="1889836" indent="0">
              <a:buNone/>
              <a:defRPr sz="1653"/>
            </a:lvl6pPr>
            <a:lvl7pPr marL="2267803" indent="0">
              <a:buNone/>
              <a:defRPr sz="1653"/>
            </a:lvl7pPr>
            <a:lvl8pPr marL="2645771" indent="0">
              <a:buNone/>
              <a:defRPr sz="1653"/>
            </a:lvl8pPr>
            <a:lvl9pPr marL="3023738" indent="0">
              <a:buNone/>
              <a:defRPr sz="1653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712" y="3207544"/>
            <a:ext cx="2438192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7967" indent="0">
              <a:buNone/>
              <a:defRPr sz="1157"/>
            </a:lvl2pPr>
            <a:lvl3pPr marL="755934" indent="0">
              <a:buNone/>
              <a:defRPr sz="992"/>
            </a:lvl3pPr>
            <a:lvl4pPr marL="1133902" indent="0">
              <a:buNone/>
              <a:defRPr sz="827"/>
            </a:lvl4pPr>
            <a:lvl5pPr marL="1511869" indent="0">
              <a:buNone/>
              <a:defRPr sz="827"/>
            </a:lvl5pPr>
            <a:lvl6pPr marL="1889836" indent="0">
              <a:buNone/>
              <a:defRPr sz="827"/>
            </a:lvl6pPr>
            <a:lvl7pPr marL="2267803" indent="0">
              <a:buNone/>
              <a:defRPr sz="827"/>
            </a:lvl7pPr>
            <a:lvl8pPr marL="2645771" indent="0">
              <a:buNone/>
              <a:defRPr sz="827"/>
            </a:lvl8pPr>
            <a:lvl9pPr marL="3023738" indent="0">
              <a:buNone/>
              <a:defRPr sz="827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7288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57659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09893" y="569240"/>
            <a:ext cx="1630055" cy="9060817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728" y="569240"/>
            <a:ext cx="4795669" cy="9060817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2F00C7-285E-4A74-B7B8-87397FB8E33B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86077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59675" cy="10691813"/>
          </a:xfrm>
          <a:prstGeom prst="rect">
            <a:avLst/>
          </a:prstGeom>
          <a:solidFill>
            <a:srgbClr val="F7EDE9"/>
          </a:solidFill>
          <a:ln/>
        </p:spPr>
        <p:txBody>
          <a:bodyPr/>
          <a:lstStyle/>
          <a:p>
            <a:endParaRPr lang="ru-RU" sz="930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7559675" cy="10691813"/>
          </a:xfrm>
          <a:prstGeom prst="rect">
            <a:avLst/>
          </a:prstGeom>
          <a:solidFill>
            <a:srgbClr val="FFFCFA"/>
          </a:solidFill>
          <a:ln/>
        </p:spPr>
        <p:txBody>
          <a:bodyPr/>
          <a:lstStyle/>
          <a:p>
            <a:endParaRPr lang="ru-RU" sz="930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4153" y="10068124"/>
            <a:ext cx="890087" cy="5345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5683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728" y="569242"/>
            <a:ext cx="6520220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728" y="2846200"/>
            <a:ext cx="6520220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728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42F00C7-285E-4A74-B7B8-87397FB8E33B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143" y="9909729"/>
            <a:ext cx="2551390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39020" y="9909729"/>
            <a:ext cx="1700927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36C0F5C-4E26-447B-9D2B-6EB683FED31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79212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</p:sldLayoutIdLst>
  <p:txStyles>
    <p:titleStyle>
      <a:lvl1pPr algn="l" defTabSz="755934" rtl="0" eaLnBrk="1" latinLnBrk="0" hangingPunct="1">
        <a:lnSpc>
          <a:spcPct val="90000"/>
        </a:lnSpc>
        <a:spcBef>
          <a:spcPct val="0"/>
        </a:spcBef>
        <a:buNone/>
        <a:defRPr sz="363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8984" indent="-188984" algn="l" defTabSz="755934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6951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944918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3" kern="1200">
          <a:solidFill>
            <a:schemeClr val="tx1"/>
          </a:solidFill>
          <a:latin typeface="+mn-lt"/>
          <a:ea typeface="+mn-ea"/>
          <a:cs typeface="+mn-cs"/>
        </a:defRPr>
      </a:lvl3pPr>
      <a:lvl4pPr marL="1322885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0853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8820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6787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4754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2722" indent="-188984" algn="l" defTabSz="755934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7967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5934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3902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1869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89836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7803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5771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3738" algn="l" defTabSz="755934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-2939904" y="1363356"/>
            <a:ext cx="13439424" cy="755967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 rot="5400000">
            <a:off x="-1824070" y="1576389"/>
            <a:ext cx="11207752" cy="7559676"/>
          </a:xfrm>
          <a:prstGeom prst="rect">
            <a:avLst/>
          </a:prstGeom>
          <a:solidFill>
            <a:srgbClr val="FFFCFA">
              <a:alpha val="85000"/>
            </a:srgbClr>
          </a:solidFill>
          <a:ln/>
        </p:spPr>
        <p:txBody>
          <a:bodyPr/>
          <a:lstStyle/>
          <a:p>
            <a:endParaRPr lang="ru-RU" sz="93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" name="Shape 1"/>
          <p:cNvSpPr/>
          <p:nvPr/>
        </p:nvSpPr>
        <p:spPr>
          <a:xfrm>
            <a:off x="436411" y="1002947"/>
            <a:ext cx="4500400" cy="327414"/>
          </a:xfrm>
          <a:prstGeom prst="roundRect">
            <a:avLst>
              <a:gd name="adj" fmla="val 18755"/>
            </a:avLst>
          </a:prstGeom>
          <a:solidFill>
            <a:srgbClr val="AEE4BD"/>
          </a:solidFill>
          <a:ln/>
        </p:spPr>
        <p:txBody>
          <a:bodyPr/>
          <a:lstStyle/>
          <a:p>
            <a:endParaRPr lang="ru-RU" sz="93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Text 2"/>
          <p:cNvSpPr/>
          <p:nvPr/>
        </p:nvSpPr>
        <p:spPr>
          <a:xfrm>
            <a:off x="550528" y="1126287"/>
            <a:ext cx="2654438" cy="1310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008"/>
              </a:lnSpc>
            </a:pPr>
            <a:r>
              <a:rPr lang="en-US" sz="11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GEORISK CHECK — ОТЧЁТ О ПРОВЕРКЕ ЗЕМЕЛЬНОГО УЧАСТКА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" name="Text 3"/>
          <p:cNvSpPr/>
          <p:nvPr/>
        </p:nvSpPr>
        <p:spPr>
          <a:xfrm>
            <a:off x="436411" y="1499278"/>
            <a:ext cx="4340661" cy="34359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687"/>
              </a:lnSpc>
            </a:pPr>
            <a:r>
              <a:rPr lang="en-US" sz="28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Проверка</a:t>
            </a:r>
            <a:r>
              <a:rPr lang="en-US" sz="28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32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земельного</a:t>
            </a:r>
            <a:r>
              <a:rPr lang="en-US" sz="28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8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участка</a:t>
            </a:r>
            <a:endParaRPr lang="en-US" sz="28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4"/>
          <p:cNvSpPr/>
          <p:nvPr/>
        </p:nvSpPr>
        <p:spPr>
          <a:xfrm>
            <a:off x="436411" y="2743547"/>
            <a:ext cx="6772697" cy="4702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00"/>
              </a:lnSpc>
            </a:pPr>
            <a:r>
              <a:rPr lang="en-US" sz="1400" dirty="0" err="1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Кадастровый</a:t>
            </a:r>
            <a:r>
              <a:rPr lang="en-US" sz="14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400" dirty="0" err="1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номер</a:t>
            </a:r>
            <a:r>
              <a:rPr lang="en-US" sz="14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: </a:t>
            </a:r>
            <a:r>
              <a:rPr lang="en-US" sz="1400" b="1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50:</a:t>
            </a:r>
            <a:r>
              <a:rPr lang="ru-RU" sz="1400" b="1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03:0020136:54</a:t>
            </a:r>
            <a:r>
              <a:rPr lang="en-US" sz="14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4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Адрес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  <a:r>
              <a:rPr lang="en-US" sz="14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Московская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обл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., </a:t>
            </a:r>
            <a:r>
              <a:rPr lang="ru-RU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Клинский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р-н, </a:t>
            </a:r>
            <a:r>
              <a:rPr lang="ru-RU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 </a:t>
            </a:r>
            <a:r>
              <a:rPr lang="ru-RU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Ямуга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en-US" sz="14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участок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№ </a:t>
            </a:r>
            <a:r>
              <a:rPr lang="ru-RU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54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Площадь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  <a:r>
              <a:rPr lang="ru-RU" sz="1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8</a:t>
            </a:r>
            <a:r>
              <a:rPr lang="en-US" sz="1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соток</a:t>
            </a:r>
            <a:r>
              <a:rPr lang="ru-RU" sz="1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</a:t>
            </a:r>
            <a:endParaRPr lang="ru-RU" sz="1400" dirty="0">
              <a:solidFill>
                <a:srgbClr val="443728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lnSpc>
                <a:spcPts val="1700"/>
              </a:lnSpc>
            </a:pPr>
            <a:r>
              <a:rPr lang="en-US" sz="14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Дата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проверки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  <a:r>
              <a:rPr lang="en-US" sz="1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02 </a:t>
            </a:r>
            <a:r>
              <a:rPr lang="en-US" sz="14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апреля</a:t>
            </a:r>
            <a:r>
              <a:rPr lang="en-US" sz="1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2026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Заказчик</a:t>
            </a:r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  <a:r>
              <a:rPr lang="en-US" sz="14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Иванов</a:t>
            </a:r>
            <a:r>
              <a:rPr lang="en-US" sz="1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И.И.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436441" y="3599802"/>
            <a:ext cx="6772697" cy="45719"/>
          </a:xfrm>
          <a:prstGeom prst="rect">
            <a:avLst/>
          </a:prstGeom>
          <a:solidFill>
            <a:srgbClr val="443728">
              <a:alpha val="50000"/>
            </a:srgbClr>
          </a:solidFill>
          <a:ln/>
        </p:spPr>
        <p:txBody>
          <a:bodyPr/>
          <a:lstStyle/>
          <a:p>
            <a:endParaRPr lang="ru-RU" sz="240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 6"/>
          <p:cNvSpPr/>
          <p:nvPr/>
        </p:nvSpPr>
        <p:spPr>
          <a:xfrm>
            <a:off x="436411" y="3995250"/>
            <a:ext cx="3676892" cy="3852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144"/>
              </a:lnSpc>
            </a:pPr>
            <a:r>
              <a:rPr lang="en-US" sz="24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Итоговый</a:t>
            </a:r>
            <a:r>
              <a:rPr lang="en-US" sz="2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4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вердикт</a:t>
            </a:r>
            <a:endParaRPr lang="en-US" sz="2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646059" y="5536286"/>
            <a:ext cx="6267492" cy="1123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2842"/>
              </a:lnSpc>
            </a:pPr>
            <a:r>
              <a:rPr lang="en-US" sz="40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8/10</a:t>
            </a:r>
            <a:endParaRPr lang="en-US" sz="40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 8"/>
          <p:cNvSpPr/>
          <p:nvPr/>
        </p:nvSpPr>
        <p:spPr>
          <a:xfrm>
            <a:off x="3092556" y="6058631"/>
            <a:ext cx="1374436" cy="17176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1343"/>
              </a:lnSpc>
            </a:pPr>
            <a:r>
              <a:rPr lang="en-US" sz="1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Risk Score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646059" y="6360111"/>
            <a:ext cx="6267492" cy="1637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1266"/>
              </a:lnSpc>
            </a:pPr>
            <a:r>
              <a:rPr lang="en-US" sz="105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Чем</a:t>
            </a:r>
            <a:r>
              <a:rPr lang="en-US" sz="10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05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выше</a:t>
            </a:r>
            <a:r>
              <a:rPr lang="en-US" sz="10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05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балл</a:t>
            </a:r>
            <a:r>
              <a:rPr lang="en-US" sz="10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— </a:t>
            </a:r>
            <a:r>
              <a:rPr lang="en-US" sz="105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тем</a:t>
            </a:r>
            <a:r>
              <a:rPr lang="en-US" sz="10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05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больше</a:t>
            </a:r>
            <a:r>
              <a:rPr lang="en-US" sz="10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05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ограничений</a:t>
            </a:r>
            <a:r>
              <a:rPr lang="en-US" sz="10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05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для</a:t>
            </a:r>
            <a:r>
              <a:rPr lang="en-US" sz="10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05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строительства</a:t>
            </a:r>
            <a:endParaRPr lang="en-US" sz="10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Shape 10"/>
          <p:cNvSpPr/>
          <p:nvPr/>
        </p:nvSpPr>
        <p:spPr>
          <a:xfrm>
            <a:off x="436441" y="8812971"/>
            <a:ext cx="6686791" cy="1083540"/>
          </a:xfrm>
          <a:prstGeom prst="roundRect">
            <a:avLst>
              <a:gd name="adj" fmla="val 7830"/>
            </a:avLst>
          </a:prstGeom>
          <a:solidFill>
            <a:srgbClr val="E1D4D0"/>
          </a:solidFill>
          <a:ln/>
        </p:spPr>
        <p:txBody>
          <a:bodyPr/>
          <a:lstStyle/>
          <a:p>
            <a:endParaRPr lang="ru-RU" sz="160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272" y="9016458"/>
            <a:ext cx="562885" cy="45025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280127" y="8987396"/>
            <a:ext cx="5800242" cy="700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00"/>
              </a:lnSpc>
            </a:pPr>
            <a:r>
              <a:rPr lang="en-US" sz="1400" b="1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Высокий</a:t>
            </a:r>
            <a:r>
              <a:rPr lang="en-US" sz="1400" b="1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b="1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риск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—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Участок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имеет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серьёзные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ограничения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для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строительства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жилого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дома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Рекомендуется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либо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отказаться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от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покупки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либо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значительно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снизить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цену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389A78-FEF6-B956-1720-623CD89C4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1C5019D8-E970-683C-ACA9-BC648A9B4262}"/>
              </a:ext>
            </a:extLst>
          </p:cNvPr>
          <p:cNvSpPr/>
          <p:nvPr/>
        </p:nvSpPr>
        <p:spPr>
          <a:xfrm>
            <a:off x="6254750" y="9956800"/>
            <a:ext cx="1473200" cy="73501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2F8C9EB-C0BB-68B2-EE92-5CD4A79821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5564" y="882950"/>
            <a:ext cx="7670801" cy="6504289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B6108DB-5D17-6C21-0948-1514420A9B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782" y="5039179"/>
            <a:ext cx="3091224" cy="1868640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476BCE71-030A-8A92-8AD7-AD7AC2AF9B1B}"/>
              </a:ext>
            </a:extLst>
          </p:cNvPr>
          <p:cNvSpPr/>
          <p:nvPr/>
        </p:nvSpPr>
        <p:spPr>
          <a:xfrm>
            <a:off x="461486" y="250951"/>
            <a:ext cx="5438180" cy="41945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300"/>
              </a:lnSpc>
            </a:pPr>
            <a:r>
              <a:rPr lang="en-US" sz="2600" b="1" dirty="0">
                <a:solidFill>
                  <a:srgbClr val="443728"/>
                </a:solidFill>
                <a:latin typeface="Crimson Pro Bold" pitchFamily="34" charset="0"/>
                <a:ea typeface="Crimson Pro Bold" pitchFamily="34" charset="-122"/>
                <a:cs typeface="Crimson Pro Bold" pitchFamily="34" charset="-120"/>
              </a:rPr>
              <a:t>Карта участка с зонами рисков</a:t>
            </a:r>
            <a:endParaRPr lang="en-US" sz="2600" dirty="0"/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F3D9CF5B-3043-F372-9E3A-16743F5320BE}"/>
              </a:ext>
            </a:extLst>
          </p:cNvPr>
          <p:cNvSpPr/>
          <p:nvPr/>
        </p:nvSpPr>
        <p:spPr>
          <a:xfrm>
            <a:off x="236782" y="7709717"/>
            <a:ext cx="6923584" cy="598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00"/>
              </a:lnSpc>
            </a:pPr>
            <a:r>
              <a:rPr lang="en-US" sz="1400" dirty="0" err="1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На</a:t>
            </a:r>
            <a:r>
              <a:rPr lang="en-US" sz="14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en-US" sz="1400" dirty="0" err="1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карте</a:t>
            </a:r>
            <a:r>
              <a:rPr lang="ru-RU" sz="14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подсвечены ключевые моменты, </a:t>
            </a:r>
            <a:r>
              <a:rPr lang="en-US" sz="1400" dirty="0" err="1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влияющие</a:t>
            </a:r>
            <a:r>
              <a:rPr lang="en-US" sz="14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на возможность строительства и </a:t>
            </a:r>
            <a:r>
              <a:rPr lang="en-US" sz="1400" dirty="0" err="1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стоимость</a:t>
            </a:r>
            <a:r>
              <a:rPr lang="en-US" sz="14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 </a:t>
            </a:r>
            <a:r>
              <a:rPr lang="ru-RU" sz="14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выбранного участка</a:t>
            </a:r>
            <a:endParaRPr lang="en-US" sz="1400" dirty="0"/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831E591B-0B86-E713-972E-2CCD6F4535A8}"/>
              </a:ext>
            </a:extLst>
          </p:cNvPr>
          <p:cNvSpPr/>
          <p:nvPr/>
        </p:nvSpPr>
        <p:spPr>
          <a:xfrm>
            <a:off x="236782" y="8768061"/>
            <a:ext cx="2622085" cy="214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650"/>
              </a:lnSpc>
            </a:pPr>
            <a:r>
              <a:rPr lang="en-US" b="1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Ключевые расстояния</a:t>
            </a:r>
            <a:endParaRPr lang="en-US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Text 4">
            <a:extLst>
              <a:ext uri="{FF2B5EF4-FFF2-40B4-BE49-F238E27FC236}">
                <a16:creationId xmlns:a16="http://schemas.microsoft.com/office/drawing/2014/main" id="{A294EB31-8027-CEAC-F94F-7AFB81076C71}"/>
              </a:ext>
            </a:extLst>
          </p:cNvPr>
          <p:cNvSpPr/>
          <p:nvPr/>
        </p:nvSpPr>
        <p:spPr>
          <a:xfrm>
            <a:off x="236782" y="9050833"/>
            <a:ext cx="2781437" cy="1693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300"/>
              </a:lnSpc>
            </a:pP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До </a:t>
            </a:r>
            <a:r>
              <a:rPr lang="en-US" sz="1400" dirty="0" err="1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реки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Ямуга</a:t>
            </a: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— </a:t>
            </a:r>
            <a:r>
              <a:rPr lang="en-US" sz="1400" b="1" dirty="0">
                <a:solidFill>
                  <a:srgbClr val="C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38 </a:t>
            </a:r>
            <a:r>
              <a:rPr lang="en-US" sz="1400" b="1" dirty="0" err="1">
                <a:solidFill>
                  <a:srgbClr val="C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метров</a:t>
            </a:r>
            <a:r>
              <a:rPr lang="ru-RU" sz="1400" b="1" dirty="0">
                <a:solidFill>
                  <a:srgbClr val="C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sz="14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(50 м водоохранная зона)</a:t>
            </a:r>
            <a:endParaRPr lang="en-US" sz="1400" dirty="0">
              <a:solidFill>
                <a:srgbClr val="C0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B17DE712-8160-4C3F-6960-E1082F6DBD83}"/>
              </a:ext>
            </a:extLst>
          </p:cNvPr>
          <p:cNvSpPr/>
          <p:nvPr/>
        </p:nvSpPr>
        <p:spPr>
          <a:xfrm>
            <a:off x="236783" y="9282292"/>
            <a:ext cx="2781436" cy="2142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300"/>
              </a:lnSpc>
            </a:pPr>
            <a:r>
              <a:rPr lang="en-US" sz="14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До ЛЭП 110 кВ — </a:t>
            </a:r>
            <a:r>
              <a:rPr lang="en-US" sz="1400" b="1" dirty="0">
                <a:solidFill>
                  <a:srgbClr val="C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15 </a:t>
            </a:r>
            <a:r>
              <a:rPr lang="en-US" sz="1400" b="1" dirty="0" err="1">
                <a:solidFill>
                  <a:srgbClr val="C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мет</a:t>
            </a:r>
            <a:r>
              <a:rPr lang="ru-RU" sz="1400" b="1" dirty="0">
                <a:solidFill>
                  <a:srgbClr val="C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ров </a:t>
            </a:r>
            <a:r>
              <a:rPr lang="ru-RU" sz="1400" i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(20 м ограничение на строительство)</a:t>
            </a:r>
            <a:r>
              <a:rPr lang="ru-RU" sz="1400" b="1" dirty="0">
                <a:solidFill>
                  <a:srgbClr val="C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endParaRPr lang="en-US" sz="1400" dirty="0">
              <a:solidFill>
                <a:srgbClr val="C00000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76459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0">
            <a:extLst>
              <a:ext uri="{FF2B5EF4-FFF2-40B4-BE49-F238E27FC236}">
                <a16:creationId xmlns:a16="http://schemas.microsoft.com/office/drawing/2014/main" id="{55B6F462-A68B-3904-84CB-7D7E5C97399F}"/>
              </a:ext>
            </a:extLst>
          </p:cNvPr>
          <p:cNvSpPr/>
          <p:nvPr/>
        </p:nvSpPr>
        <p:spPr>
          <a:xfrm>
            <a:off x="393150" y="287594"/>
            <a:ext cx="4295894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000"/>
              </a:lnSpc>
            </a:pPr>
            <a:r>
              <a:rPr lang="en-US" sz="2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Подробный разбор рисков</a:t>
            </a:r>
            <a:endParaRPr lang="en-US" sz="2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1" name="Text 1">
            <a:extLst>
              <a:ext uri="{FF2B5EF4-FFF2-40B4-BE49-F238E27FC236}">
                <a16:creationId xmlns:a16="http://schemas.microsoft.com/office/drawing/2014/main" id="{78794BDA-2DA1-D9A3-E341-871C74174607}"/>
              </a:ext>
            </a:extLst>
          </p:cNvPr>
          <p:cNvSpPr/>
          <p:nvPr/>
        </p:nvSpPr>
        <p:spPr>
          <a:xfrm>
            <a:off x="381992" y="988695"/>
            <a:ext cx="6728421" cy="7972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Каждый выявленный фактор оценён по степени влияния на возможность строительства, получения ипотеки и дальнейшей эксплуатации участка. Ниже — полный анализ всех четырёх факторов риска.</a:t>
            </a:r>
            <a:endParaRPr lang="en-US" sz="1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2" name="Shape 2">
            <a:extLst>
              <a:ext uri="{FF2B5EF4-FFF2-40B4-BE49-F238E27FC236}">
                <a16:creationId xmlns:a16="http://schemas.microsoft.com/office/drawing/2014/main" id="{B0E81C9C-BBC5-BFF0-D247-0F631F16E9CC}"/>
              </a:ext>
            </a:extLst>
          </p:cNvPr>
          <p:cNvSpPr/>
          <p:nvPr/>
        </p:nvSpPr>
        <p:spPr>
          <a:xfrm>
            <a:off x="275222" y="1862926"/>
            <a:ext cx="7129519" cy="1405737"/>
          </a:xfrm>
          <a:prstGeom prst="roundRect">
            <a:avLst>
              <a:gd name="adj" fmla="val 3298"/>
            </a:avLst>
          </a:prstGeom>
          <a:solidFill>
            <a:srgbClr val="FFFCFA"/>
          </a:solidFill>
          <a:ln w="15240">
            <a:solidFill>
              <a:srgbClr val="D1C8C6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DD0732EE-7553-C8B3-45C5-BC6173CC8A71}"/>
              </a:ext>
            </a:extLst>
          </p:cNvPr>
          <p:cNvSpPr/>
          <p:nvPr/>
        </p:nvSpPr>
        <p:spPr>
          <a:xfrm>
            <a:off x="560302" y="2007669"/>
            <a:ext cx="6533482" cy="2444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1. Водоохранная зона — Критический риск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" name="Text 5">
            <a:extLst>
              <a:ext uri="{FF2B5EF4-FFF2-40B4-BE49-F238E27FC236}">
                <a16:creationId xmlns:a16="http://schemas.microsoft.com/office/drawing/2014/main" id="{10E4DDA6-4B1E-FE16-DBF2-186A5F7C93F5}"/>
              </a:ext>
            </a:extLst>
          </p:cNvPr>
          <p:cNvSpPr/>
          <p:nvPr/>
        </p:nvSpPr>
        <p:spPr>
          <a:xfrm>
            <a:off x="588019" y="2261363"/>
            <a:ext cx="6722310" cy="4785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00"/>
              </a:lnSpc>
            </a:pP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Участок попадает в прибрежную защитную полосу </a:t>
            </a:r>
            <a:r>
              <a:rPr lang="en-US" sz="11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реки</a:t>
            </a: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Ямуги</a:t>
            </a: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 Строительство капитального жилого дома в этой зоне </a:t>
            </a:r>
            <a:r>
              <a:rPr lang="en-US" sz="11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запрещено</a:t>
            </a: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 Это не рекомендация — это прямой запрет, закреплённый в Водном кодексе РФ. Даже если дом уже стоит, его могут признать самовольной постройкой.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6" name="Text 6">
            <a:extLst>
              <a:ext uri="{FF2B5EF4-FFF2-40B4-BE49-F238E27FC236}">
                <a16:creationId xmlns:a16="http://schemas.microsoft.com/office/drawing/2014/main" id="{0C0AFDF0-4654-8F9B-13FF-BE9A7FE739DA}"/>
              </a:ext>
            </a:extLst>
          </p:cNvPr>
          <p:cNvSpPr/>
          <p:nvPr/>
        </p:nvSpPr>
        <p:spPr>
          <a:xfrm>
            <a:off x="5734373" y="3023905"/>
            <a:ext cx="1592325" cy="1712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i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(Водный кодекс РФ, ст. 65)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7" name="Shape 7">
            <a:extLst>
              <a:ext uri="{FF2B5EF4-FFF2-40B4-BE49-F238E27FC236}">
                <a16:creationId xmlns:a16="http://schemas.microsoft.com/office/drawing/2014/main" id="{D659B417-34F8-713B-E2C7-B4D946DDCC10}"/>
              </a:ext>
            </a:extLst>
          </p:cNvPr>
          <p:cNvSpPr/>
          <p:nvPr/>
        </p:nvSpPr>
        <p:spPr>
          <a:xfrm>
            <a:off x="249346" y="3392403"/>
            <a:ext cx="7155395" cy="1665793"/>
          </a:xfrm>
          <a:prstGeom prst="roundRect">
            <a:avLst>
              <a:gd name="adj" fmla="val 3298"/>
            </a:avLst>
          </a:prstGeom>
          <a:solidFill>
            <a:srgbClr val="FFFCFA"/>
          </a:solidFill>
          <a:ln w="15240">
            <a:solidFill>
              <a:srgbClr val="D1C8C6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8" name="Shape 8">
            <a:extLst>
              <a:ext uri="{FF2B5EF4-FFF2-40B4-BE49-F238E27FC236}">
                <a16:creationId xmlns:a16="http://schemas.microsoft.com/office/drawing/2014/main" id="{AD701E7D-09C2-81B4-D415-9FF388560430}"/>
              </a:ext>
            </a:extLst>
          </p:cNvPr>
          <p:cNvSpPr/>
          <p:nvPr/>
        </p:nvSpPr>
        <p:spPr>
          <a:xfrm>
            <a:off x="249346" y="3392403"/>
            <a:ext cx="88714" cy="1679660"/>
          </a:xfrm>
          <a:prstGeom prst="roundRect">
            <a:avLst>
              <a:gd name="adj" fmla="val 85050"/>
            </a:avLst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9" name="Text 9">
            <a:extLst>
              <a:ext uri="{FF2B5EF4-FFF2-40B4-BE49-F238E27FC236}">
                <a16:creationId xmlns:a16="http://schemas.microsoft.com/office/drawing/2014/main" id="{B46ECCD3-5C5C-2680-0DF8-BC98B7C6E814}"/>
              </a:ext>
            </a:extLst>
          </p:cNvPr>
          <p:cNvSpPr/>
          <p:nvPr/>
        </p:nvSpPr>
        <p:spPr>
          <a:xfrm>
            <a:off x="591385" y="3530994"/>
            <a:ext cx="6533505" cy="244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2. Охранная зона ЛЭП 110 кВ — Высокий риск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0" name="Text 10">
            <a:extLst>
              <a:ext uri="{FF2B5EF4-FFF2-40B4-BE49-F238E27FC236}">
                <a16:creationId xmlns:a16="http://schemas.microsoft.com/office/drawing/2014/main" id="{6CE3BB53-7747-D6CF-0208-6F2152288C78}"/>
              </a:ext>
            </a:extLst>
          </p:cNvPr>
          <p:cNvSpPr/>
          <p:nvPr/>
        </p:nvSpPr>
        <p:spPr>
          <a:xfrm>
            <a:off x="560302" y="3830396"/>
            <a:ext cx="6727729" cy="60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00"/>
              </a:lnSpc>
            </a:pP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Расстояние от границы участка до линии электропередачи — </a:t>
            </a:r>
            <a:r>
              <a:rPr lang="ru-RU" sz="11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15</a:t>
            </a:r>
            <a:r>
              <a:rPr lang="en-US" sz="11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1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метр</a:t>
            </a:r>
            <a:r>
              <a:rPr lang="ru-RU" sz="11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ов</a:t>
            </a: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 Минимально разрешённое расстояние по нормативам — </a:t>
            </a:r>
            <a:r>
              <a:rPr lang="ru-RU" sz="11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20</a:t>
            </a:r>
            <a:r>
              <a:rPr lang="en-US" sz="11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метров</a:t>
            </a: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 Нарушение нормы </a:t>
            </a:r>
            <a:r>
              <a:rPr lang="en-US" sz="1100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составляет</a:t>
            </a: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ru-RU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</a:t>
            </a: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метров. Последствия: банк почти наверняка откажет в ипотеке, а разрешение на строительство получить будет крайне сложно — потребуется согласование с сетевой компанией, которое редко даётся.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1" name="Text 11">
            <a:extLst>
              <a:ext uri="{FF2B5EF4-FFF2-40B4-BE49-F238E27FC236}">
                <a16:creationId xmlns:a16="http://schemas.microsoft.com/office/drawing/2014/main" id="{465B8127-9F6A-7F5C-0246-4405B9D36DE1}"/>
              </a:ext>
            </a:extLst>
          </p:cNvPr>
          <p:cNvSpPr/>
          <p:nvPr/>
        </p:nvSpPr>
        <p:spPr>
          <a:xfrm>
            <a:off x="3939196" y="4793646"/>
            <a:ext cx="3576666" cy="1760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i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(Постановление Правительства РФ № 160 от 24.02.2009)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2" name="Shape 12">
            <a:extLst>
              <a:ext uri="{FF2B5EF4-FFF2-40B4-BE49-F238E27FC236}">
                <a16:creationId xmlns:a16="http://schemas.microsoft.com/office/drawing/2014/main" id="{3433522A-879E-C8A3-A195-570BD9E11122}"/>
              </a:ext>
            </a:extLst>
          </p:cNvPr>
          <p:cNvSpPr/>
          <p:nvPr/>
        </p:nvSpPr>
        <p:spPr>
          <a:xfrm>
            <a:off x="272944" y="5273506"/>
            <a:ext cx="7150181" cy="1484842"/>
          </a:xfrm>
          <a:prstGeom prst="roundRect">
            <a:avLst>
              <a:gd name="adj" fmla="val 3806"/>
            </a:avLst>
          </a:prstGeom>
          <a:solidFill>
            <a:srgbClr val="FFFCFA"/>
          </a:solidFill>
          <a:ln w="15240">
            <a:solidFill>
              <a:srgbClr val="D1C8C6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4" name="Text 14">
            <a:extLst>
              <a:ext uri="{FF2B5EF4-FFF2-40B4-BE49-F238E27FC236}">
                <a16:creationId xmlns:a16="http://schemas.microsoft.com/office/drawing/2014/main" id="{84E28FFA-5567-0ED3-E42C-310F15D5186B}"/>
              </a:ext>
            </a:extLst>
          </p:cNvPr>
          <p:cNvSpPr/>
          <p:nvPr/>
        </p:nvSpPr>
        <p:spPr>
          <a:xfrm>
            <a:off x="615154" y="5416852"/>
            <a:ext cx="6533482" cy="29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3. Соответствие генплану и ПЗЗ — Средний риск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" name="Text 15">
            <a:extLst>
              <a:ext uri="{FF2B5EF4-FFF2-40B4-BE49-F238E27FC236}">
                <a16:creationId xmlns:a16="http://schemas.microsoft.com/office/drawing/2014/main" id="{E53FB88A-10C3-67D9-94C7-40F289CCBFE1}"/>
              </a:ext>
            </a:extLst>
          </p:cNvPr>
          <p:cNvSpPr/>
          <p:nvPr/>
        </p:nvSpPr>
        <p:spPr>
          <a:xfrm>
            <a:off x="590499" y="5681275"/>
            <a:ext cx="6736199" cy="80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00"/>
              </a:lnSpc>
            </a:pP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По Генплану Истринского района участок относится к зоне </a:t>
            </a:r>
            <a:r>
              <a:rPr lang="en-US" sz="11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сельскохозяйственного назначения</a:t>
            </a: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 Для строительства ИЖС требуется изменение вида разрешённого использования (ВРИ). Процедура возможна, но занимает от 6 до 18 месяцев и требует публичных слушаний. Без смены ВРИ строительство жилого дома незаконно.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6" name="Text 16">
            <a:extLst>
              <a:ext uri="{FF2B5EF4-FFF2-40B4-BE49-F238E27FC236}">
                <a16:creationId xmlns:a16="http://schemas.microsoft.com/office/drawing/2014/main" id="{C3E12AFB-3710-ADB4-E484-00D30CC70735}"/>
              </a:ext>
            </a:extLst>
          </p:cNvPr>
          <p:cNvSpPr/>
          <p:nvPr/>
        </p:nvSpPr>
        <p:spPr>
          <a:xfrm>
            <a:off x="4659630" y="6520369"/>
            <a:ext cx="2784487" cy="15574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i="1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(Генплан Истринского городского округа, ПЗЗ)</a:t>
            </a:r>
            <a:endParaRPr lang="en-US" sz="950" dirty="0"/>
          </a:p>
        </p:txBody>
      </p:sp>
      <p:sp>
        <p:nvSpPr>
          <p:cNvPr id="47" name="Shape 17">
            <a:extLst>
              <a:ext uri="{FF2B5EF4-FFF2-40B4-BE49-F238E27FC236}">
                <a16:creationId xmlns:a16="http://schemas.microsoft.com/office/drawing/2014/main" id="{F73C9C6B-2D6E-408B-33FF-87470C23CA1E}"/>
              </a:ext>
            </a:extLst>
          </p:cNvPr>
          <p:cNvSpPr/>
          <p:nvPr/>
        </p:nvSpPr>
        <p:spPr>
          <a:xfrm>
            <a:off x="251952" y="6929293"/>
            <a:ext cx="7150181" cy="1371457"/>
          </a:xfrm>
          <a:prstGeom prst="roundRect">
            <a:avLst>
              <a:gd name="adj" fmla="val 3806"/>
            </a:avLst>
          </a:prstGeom>
          <a:solidFill>
            <a:srgbClr val="FFFCFA"/>
          </a:solidFill>
          <a:ln w="15240">
            <a:solidFill>
              <a:srgbClr val="D1C8C6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8" name="Shape 18">
            <a:extLst>
              <a:ext uri="{FF2B5EF4-FFF2-40B4-BE49-F238E27FC236}">
                <a16:creationId xmlns:a16="http://schemas.microsoft.com/office/drawing/2014/main" id="{30C6DFDB-C990-2471-106D-E28C0E0CE7E4}"/>
              </a:ext>
            </a:extLst>
          </p:cNvPr>
          <p:cNvSpPr/>
          <p:nvPr/>
        </p:nvSpPr>
        <p:spPr>
          <a:xfrm>
            <a:off x="236710" y="6929293"/>
            <a:ext cx="93465" cy="1386974"/>
          </a:xfrm>
          <a:prstGeom prst="roundRect">
            <a:avLst>
              <a:gd name="adj" fmla="val 85050"/>
            </a:avLst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" name="Text 19">
            <a:extLst>
              <a:ext uri="{FF2B5EF4-FFF2-40B4-BE49-F238E27FC236}">
                <a16:creationId xmlns:a16="http://schemas.microsoft.com/office/drawing/2014/main" id="{CD321197-EF72-457B-8FA8-1F586F045C17}"/>
              </a:ext>
            </a:extLst>
          </p:cNvPr>
          <p:cNvSpPr/>
          <p:nvPr/>
        </p:nvSpPr>
        <p:spPr>
          <a:xfrm>
            <a:off x="582974" y="7084059"/>
            <a:ext cx="6488135" cy="346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4. Рельеф и риск подтопления — Низкий риск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0" name="Text 20">
            <a:extLst>
              <a:ext uri="{FF2B5EF4-FFF2-40B4-BE49-F238E27FC236}">
                <a16:creationId xmlns:a16="http://schemas.microsoft.com/office/drawing/2014/main" id="{36398ECB-5A04-1254-5909-CE6C1D17EDF3}"/>
              </a:ext>
            </a:extLst>
          </p:cNvPr>
          <p:cNvSpPr/>
          <p:nvPr/>
        </p:nvSpPr>
        <p:spPr>
          <a:xfrm>
            <a:off x="560302" y="7359260"/>
            <a:ext cx="6859786" cy="7978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00"/>
              </a:lnSpc>
            </a:pP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Максимальный уклон участка составляет </a:t>
            </a:r>
            <a:r>
              <a:rPr lang="en-US" sz="11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5°</a:t>
            </a: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, что является допустимым значением для строительства. Риск подтопления — низкий по данным многолетних наблюдений и гидрологическим картам территории. Этот фактор не создаёт дополнительных ограничений.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1" name="Shape 21">
            <a:extLst>
              <a:ext uri="{FF2B5EF4-FFF2-40B4-BE49-F238E27FC236}">
                <a16:creationId xmlns:a16="http://schemas.microsoft.com/office/drawing/2014/main" id="{29400EEE-4AFC-29EE-E220-35C1C7627F20}"/>
              </a:ext>
            </a:extLst>
          </p:cNvPr>
          <p:cNvSpPr/>
          <p:nvPr/>
        </p:nvSpPr>
        <p:spPr>
          <a:xfrm>
            <a:off x="590375" y="8799630"/>
            <a:ext cx="2743376" cy="138436"/>
          </a:xfrm>
          <a:prstGeom prst="roundRect">
            <a:avLst>
              <a:gd name="adj" fmla="val 33600"/>
            </a:avLst>
          </a:prstGeom>
          <a:solidFill>
            <a:srgbClr val="FFFCFA"/>
          </a:solidFill>
          <a:ln w="7620">
            <a:solidFill>
              <a:srgbClr val="FF5D5D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2" name="Shape 22">
            <a:extLst>
              <a:ext uri="{FF2B5EF4-FFF2-40B4-BE49-F238E27FC236}">
                <a16:creationId xmlns:a16="http://schemas.microsoft.com/office/drawing/2014/main" id="{D6132C95-F730-9E59-755C-25FEF21184AB}"/>
              </a:ext>
            </a:extLst>
          </p:cNvPr>
          <p:cNvSpPr/>
          <p:nvPr/>
        </p:nvSpPr>
        <p:spPr>
          <a:xfrm>
            <a:off x="590372" y="8799630"/>
            <a:ext cx="2606191" cy="138436"/>
          </a:xfrm>
          <a:prstGeom prst="roundRect">
            <a:avLst>
              <a:gd name="adj" fmla="val 33600"/>
            </a:avLst>
          </a:prstGeom>
          <a:solidFill>
            <a:srgbClr val="F4444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" name="Text 23">
            <a:extLst>
              <a:ext uri="{FF2B5EF4-FFF2-40B4-BE49-F238E27FC236}">
                <a16:creationId xmlns:a16="http://schemas.microsoft.com/office/drawing/2014/main" id="{A19E8FEB-588F-68DE-C58B-FC05E9AE82D6}"/>
              </a:ext>
            </a:extLst>
          </p:cNvPr>
          <p:cNvSpPr/>
          <p:nvPr/>
        </p:nvSpPr>
        <p:spPr>
          <a:xfrm>
            <a:off x="3426262" y="8811365"/>
            <a:ext cx="275034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95%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4" name="Text 24">
            <a:extLst>
              <a:ext uri="{FF2B5EF4-FFF2-40B4-BE49-F238E27FC236}">
                <a16:creationId xmlns:a16="http://schemas.microsoft.com/office/drawing/2014/main" id="{6D3DDBEF-76BE-5031-9BB4-D54F9AA2D0C1}"/>
              </a:ext>
            </a:extLst>
          </p:cNvPr>
          <p:cNvSpPr/>
          <p:nvPr/>
        </p:nvSpPr>
        <p:spPr>
          <a:xfrm>
            <a:off x="590374" y="9061805"/>
            <a:ext cx="2188607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Водоохранная зона и ООПТ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5" name="Text 25">
            <a:extLst>
              <a:ext uri="{FF2B5EF4-FFF2-40B4-BE49-F238E27FC236}">
                <a16:creationId xmlns:a16="http://schemas.microsoft.com/office/drawing/2014/main" id="{D318A44E-7C03-709E-DD91-F7C757029287}"/>
              </a:ext>
            </a:extLst>
          </p:cNvPr>
          <p:cNvSpPr/>
          <p:nvPr/>
        </p:nvSpPr>
        <p:spPr>
          <a:xfrm>
            <a:off x="590374" y="9291712"/>
            <a:ext cx="3479483" cy="148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Критический уровень угрозы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6" name="Shape 26">
            <a:extLst>
              <a:ext uri="{FF2B5EF4-FFF2-40B4-BE49-F238E27FC236}">
                <a16:creationId xmlns:a16="http://schemas.microsoft.com/office/drawing/2014/main" id="{78320402-D0BE-C1C8-76BD-57FC66AB8C33}"/>
              </a:ext>
            </a:extLst>
          </p:cNvPr>
          <p:cNvSpPr/>
          <p:nvPr/>
        </p:nvSpPr>
        <p:spPr>
          <a:xfrm>
            <a:off x="4147007" y="8799629"/>
            <a:ext cx="2524303" cy="138437"/>
          </a:xfrm>
          <a:prstGeom prst="roundRect">
            <a:avLst>
              <a:gd name="adj" fmla="val 33600"/>
            </a:avLst>
          </a:prstGeom>
          <a:solidFill>
            <a:srgbClr val="FFFCFA"/>
          </a:solidFill>
          <a:ln w="7620">
            <a:solidFill>
              <a:srgbClr val="E58A35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7" name="Shape 27">
            <a:extLst>
              <a:ext uri="{FF2B5EF4-FFF2-40B4-BE49-F238E27FC236}">
                <a16:creationId xmlns:a16="http://schemas.microsoft.com/office/drawing/2014/main" id="{F2B243AE-7CBF-96F8-548E-856BEC7ADFD2}"/>
              </a:ext>
            </a:extLst>
          </p:cNvPr>
          <p:cNvSpPr/>
          <p:nvPr/>
        </p:nvSpPr>
        <p:spPr>
          <a:xfrm>
            <a:off x="4147009" y="8799629"/>
            <a:ext cx="1893155" cy="138437"/>
          </a:xfrm>
          <a:prstGeom prst="roundRect">
            <a:avLst>
              <a:gd name="adj" fmla="val 33600"/>
            </a:avLst>
          </a:prstGeom>
          <a:solidFill>
            <a:srgbClr val="FFA44F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8" name="Text 28">
            <a:extLst>
              <a:ext uri="{FF2B5EF4-FFF2-40B4-BE49-F238E27FC236}">
                <a16:creationId xmlns:a16="http://schemas.microsoft.com/office/drawing/2014/main" id="{8C1C9FE3-1EBD-13EC-D405-643AA14D1A78}"/>
              </a:ext>
            </a:extLst>
          </p:cNvPr>
          <p:cNvSpPr/>
          <p:nvPr/>
        </p:nvSpPr>
        <p:spPr>
          <a:xfrm>
            <a:off x="6761874" y="8808424"/>
            <a:ext cx="265628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75%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9" name="Text 29">
            <a:extLst>
              <a:ext uri="{FF2B5EF4-FFF2-40B4-BE49-F238E27FC236}">
                <a16:creationId xmlns:a16="http://schemas.microsoft.com/office/drawing/2014/main" id="{792BFB10-4330-461A-6EBC-67317505986C}"/>
              </a:ext>
            </a:extLst>
          </p:cNvPr>
          <p:cNvSpPr/>
          <p:nvPr/>
        </p:nvSpPr>
        <p:spPr>
          <a:xfrm>
            <a:off x="4147010" y="9061806"/>
            <a:ext cx="1261718" cy="1730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Охранная зона ЛЭП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0" name="Text 30">
            <a:extLst>
              <a:ext uri="{FF2B5EF4-FFF2-40B4-BE49-F238E27FC236}">
                <a16:creationId xmlns:a16="http://schemas.microsoft.com/office/drawing/2014/main" id="{8CE516B7-12F2-FFB4-8350-DF2FB8022856}"/>
              </a:ext>
            </a:extLst>
          </p:cNvPr>
          <p:cNvSpPr/>
          <p:nvPr/>
        </p:nvSpPr>
        <p:spPr>
          <a:xfrm>
            <a:off x="4147007" y="9291712"/>
            <a:ext cx="3479602" cy="148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Высокий уровень угрозы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1" name="Shape 31">
            <a:extLst>
              <a:ext uri="{FF2B5EF4-FFF2-40B4-BE49-F238E27FC236}">
                <a16:creationId xmlns:a16="http://schemas.microsoft.com/office/drawing/2014/main" id="{D5F66EB0-632D-05A5-1A4E-AF5D812C816C}"/>
              </a:ext>
            </a:extLst>
          </p:cNvPr>
          <p:cNvSpPr/>
          <p:nvPr/>
        </p:nvSpPr>
        <p:spPr>
          <a:xfrm>
            <a:off x="590372" y="9624852"/>
            <a:ext cx="2743379" cy="148114"/>
          </a:xfrm>
          <a:prstGeom prst="roundRect">
            <a:avLst>
              <a:gd name="adj" fmla="val 33600"/>
            </a:avLst>
          </a:prstGeom>
          <a:solidFill>
            <a:srgbClr val="FFFCFA"/>
          </a:solidFill>
          <a:ln w="7620">
            <a:solidFill>
              <a:srgbClr val="DFBF19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2" name="Shape 32">
            <a:extLst>
              <a:ext uri="{FF2B5EF4-FFF2-40B4-BE49-F238E27FC236}">
                <a16:creationId xmlns:a16="http://schemas.microsoft.com/office/drawing/2014/main" id="{4191C2A7-BE7C-4CA9-0F60-0047B32D1BF4}"/>
              </a:ext>
            </a:extLst>
          </p:cNvPr>
          <p:cNvSpPr/>
          <p:nvPr/>
        </p:nvSpPr>
        <p:spPr>
          <a:xfrm>
            <a:off x="590372" y="9624852"/>
            <a:ext cx="1234431" cy="148114"/>
          </a:xfrm>
          <a:prstGeom prst="roundRect">
            <a:avLst>
              <a:gd name="adj" fmla="val 33600"/>
            </a:avLst>
          </a:prstGeom>
          <a:solidFill>
            <a:srgbClr val="F9D933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3" name="Text 33">
            <a:extLst>
              <a:ext uri="{FF2B5EF4-FFF2-40B4-BE49-F238E27FC236}">
                <a16:creationId xmlns:a16="http://schemas.microsoft.com/office/drawing/2014/main" id="{0E279410-A966-45C9-0120-905DCD22C744}"/>
              </a:ext>
            </a:extLst>
          </p:cNvPr>
          <p:cNvSpPr/>
          <p:nvPr/>
        </p:nvSpPr>
        <p:spPr>
          <a:xfrm>
            <a:off x="3426262" y="9639838"/>
            <a:ext cx="275511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45%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4" name="Text 34">
            <a:extLst>
              <a:ext uri="{FF2B5EF4-FFF2-40B4-BE49-F238E27FC236}">
                <a16:creationId xmlns:a16="http://schemas.microsoft.com/office/drawing/2014/main" id="{42ED357B-F313-D7BE-F3AE-4B35571D1F6F}"/>
              </a:ext>
            </a:extLst>
          </p:cNvPr>
          <p:cNvSpPr/>
          <p:nvPr/>
        </p:nvSpPr>
        <p:spPr>
          <a:xfrm>
            <a:off x="590372" y="9887027"/>
            <a:ext cx="154305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Генплан и ПЗЗ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5" name="Text 35">
            <a:extLst>
              <a:ext uri="{FF2B5EF4-FFF2-40B4-BE49-F238E27FC236}">
                <a16:creationId xmlns:a16="http://schemas.microsoft.com/office/drawing/2014/main" id="{71689C47-5BDE-60B0-7126-B3A4264C5E87}"/>
              </a:ext>
            </a:extLst>
          </p:cNvPr>
          <p:cNvSpPr/>
          <p:nvPr/>
        </p:nvSpPr>
        <p:spPr>
          <a:xfrm>
            <a:off x="590374" y="10116935"/>
            <a:ext cx="3479483" cy="148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Средний уровень угрозы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6" name="Shape 36">
            <a:extLst>
              <a:ext uri="{FF2B5EF4-FFF2-40B4-BE49-F238E27FC236}">
                <a16:creationId xmlns:a16="http://schemas.microsoft.com/office/drawing/2014/main" id="{6FA6D43F-0F8E-4AC8-566E-D3161151A2E6}"/>
              </a:ext>
            </a:extLst>
          </p:cNvPr>
          <p:cNvSpPr/>
          <p:nvPr/>
        </p:nvSpPr>
        <p:spPr>
          <a:xfrm>
            <a:off x="4147007" y="9624852"/>
            <a:ext cx="2524303" cy="148114"/>
          </a:xfrm>
          <a:prstGeom prst="roundRect">
            <a:avLst>
              <a:gd name="adj" fmla="val 33600"/>
            </a:avLst>
          </a:prstGeom>
          <a:solidFill>
            <a:srgbClr val="FFFCFA"/>
          </a:solidFill>
          <a:ln w="7620">
            <a:solidFill>
              <a:srgbClr val="388A4E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7" name="Shape 37">
            <a:extLst>
              <a:ext uri="{FF2B5EF4-FFF2-40B4-BE49-F238E27FC236}">
                <a16:creationId xmlns:a16="http://schemas.microsoft.com/office/drawing/2014/main" id="{24639DCD-77C9-5F23-0796-3CFC4714DDE7}"/>
              </a:ext>
            </a:extLst>
          </p:cNvPr>
          <p:cNvSpPr/>
          <p:nvPr/>
        </p:nvSpPr>
        <p:spPr>
          <a:xfrm>
            <a:off x="4147007" y="9624852"/>
            <a:ext cx="378617" cy="148114"/>
          </a:xfrm>
          <a:prstGeom prst="roundRect">
            <a:avLst>
              <a:gd name="adj" fmla="val 33600"/>
            </a:avLst>
          </a:prstGeom>
          <a:solidFill>
            <a:srgbClr val="1F7135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8" name="Text 38">
            <a:extLst>
              <a:ext uri="{FF2B5EF4-FFF2-40B4-BE49-F238E27FC236}">
                <a16:creationId xmlns:a16="http://schemas.microsoft.com/office/drawing/2014/main" id="{1DABFCBD-A9D0-6377-7A39-C9CB35E8C5D5}"/>
              </a:ext>
            </a:extLst>
          </p:cNvPr>
          <p:cNvSpPr/>
          <p:nvPr/>
        </p:nvSpPr>
        <p:spPr>
          <a:xfrm>
            <a:off x="6776757" y="9633646"/>
            <a:ext cx="250746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2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15%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" name="Text 39">
            <a:extLst>
              <a:ext uri="{FF2B5EF4-FFF2-40B4-BE49-F238E27FC236}">
                <a16:creationId xmlns:a16="http://schemas.microsoft.com/office/drawing/2014/main" id="{098849D7-79CF-DB9E-711E-F6FF08352F58}"/>
              </a:ext>
            </a:extLst>
          </p:cNvPr>
          <p:cNvSpPr/>
          <p:nvPr/>
        </p:nvSpPr>
        <p:spPr>
          <a:xfrm>
            <a:off x="4147009" y="9887027"/>
            <a:ext cx="1844873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Рельеф и подтопление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0" name="Text 40">
            <a:extLst>
              <a:ext uri="{FF2B5EF4-FFF2-40B4-BE49-F238E27FC236}">
                <a16:creationId xmlns:a16="http://schemas.microsoft.com/office/drawing/2014/main" id="{5C0960B6-1893-79B1-E2AD-BFAFC7047760}"/>
              </a:ext>
            </a:extLst>
          </p:cNvPr>
          <p:cNvSpPr/>
          <p:nvPr/>
        </p:nvSpPr>
        <p:spPr>
          <a:xfrm>
            <a:off x="4147007" y="10116935"/>
            <a:ext cx="3479602" cy="148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Низкий уровень угрозы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2" name="Shape 8">
            <a:extLst>
              <a:ext uri="{FF2B5EF4-FFF2-40B4-BE49-F238E27FC236}">
                <a16:creationId xmlns:a16="http://schemas.microsoft.com/office/drawing/2014/main" id="{D65461D0-BB54-B34B-643A-4E4F38F90C3F}"/>
              </a:ext>
            </a:extLst>
          </p:cNvPr>
          <p:cNvSpPr/>
          <p:nvPr/>
        </p:nvSpPr>
        <p:spPr>
          <a:xfrm>
            <a:off x="249346" y="1862926"/>
            <a:ext cx="88714" cy="1417123"/>
          </a:xfrm>
          <a:prstGeom prst="roundRect">
            <a:avLst>
              <a:gd name="adj" fmla="val 85050"/>
            </a:avLst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3" name="Shape 8">
            <a:extLst>
              <a:ext uri="{FF2B5EF4-FFF2-40B4-BE49-F238E27FC236}">
                <a16:creationId xmlns:a16="http://schemas.microsoft.com/office/drawing/2014/main" id="{06F781D4-79A9-753E-9489-F17F09F4A1F9}"/>
              </a:ext>
            </a:extLst>
          </p:cNvPr>
          <p:cNvSpPr/>
          <p:nvPr/>
        </p:nvSpPr>
        <p:spPr>
          <a:xfrm>
            <a:off x="251952" y="5244790"/>
            <a:ext cx="88714" cy="1534271"/>
          </a:xfrm>
          <a:prstGeom prst="roundRect">
            <a:avLst>
              <a:gd name="adj" fmla="val 85050"/>
            </a:avLst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12588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0">
            <a:extLst>
              <a:ext uri="{FF2B5EF4-FFF2-40B4-BE49-F238E27FC236}">
                <a16:creationId xmlns:a16="http://schemas.microsoft.com/office/drawing/2014/main" id="{CED87927-3BDF-5095-F5A5-1091CC8F226C}"/>
              </a:ext>
            </a:extLst>
          </p:cNvPr>
          <p:cNvSpPr/>
          <p:nvPr/>
        </p:nvSpPr>
        <p:spPr>
          <a:xfrm>
            <a:off x="452080" y="355090"/>
            <a:ext cx="7005272" cy="8055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4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Рекомендации</a:t>
            </a:r>
            <a:r>
              <a:rPr lang="en-US" sz="2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: </a:t>
            </a:r>
            <a:r>
              <a:rPr lang="en-US" sz="24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что</a:t>
            </a:r>
            <a:r>
              <a:rPr lang="en-US" sz="2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4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делать</a:t>
            </a:r>
            <a:r>
              <a:rPr lang="en-US" sz="2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с </a:t>
            </a:r>
            <a:r>
              <a:rPr lang="en-US" sz="24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этим</a:t>
            </a:r>
            <a:r>
              <a:rPr lang="en-US" sz="2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2400" b="1" dirty="0" err="1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участком</a:t>
            </a:r>
            <a:r>
              <a:rPr lang="en-US" sz="2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?</a:t>
            </a:r>
            <a:endParaRPr lang="en-US" sz="2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Shape 1">
            <a:extLst>
              <a:ext uri="{FF2B5EF4-FFF2-40B4-BE49-F238E27FC236}">
                <a16:creationId xmlns:a16="http://schemas.microsoft.com/office/drawing/2014/main" id="{DBC19A50-1DE4-2BC9-F589-CF9CFEC99A09}"/>
              </a:ext>
            </a:extLst>
          </p:cNvPr>
          <p:cNvSpPr/>
          <p:nvPr/>
        </p:nvSpPr>
        <p:spPr>
          <a:xfrm>
            <a:off x="416467" y="1458270"/>
            <a:ext cx="6819254" cy="998077"/>
          </a:xfrm>
          <a:prstGeom prst="roundRect">
            <a:avLst>
              <a:gd name="adj" fmla="val 9195"/>
            </a:avLst>
          </a:prstGeom>
          <a:solidFill>
            <a:srgbClr val="E1D4D0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6" name="Image 0" descr="preencoded.png">
            <a:extLst>
              <a:ext uri="{FF2B5EF4-FFF2-40B4-BE49-F238E27FC236}">
                <a16:creationId xmlns:a16="http://schemas.microsoft.com/office/drawing/2014/main" id="{C448954B-761A-AA7F-81E9-B4F48A0E1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6267" y="1797563"/>
            <a:ext cx="399423" cy="319490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78E575A3-8FF8-3089-529F-1A447FCBBEE1}"/>
              </a:ext>
            </a:extLst>
          </p:cNvPr>
          <p:cNvSpPr/>
          <p:nvPr/>
        </p:nvSpPr>
        <p:spPr>
          <a:xfrm>
            <a:off x="1184781" y="1645359"/>
            <a:ext cx="6050940" cy="5712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00"/>
              </a:lnSpc>
            </a:pPr>
            <a:r>
              <a:rPr lang="en-US" sz="1200" b="1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Основная рекомендация:</a:t>
            </a:r>
            <a:r>
              <a:rPr lang="en-US" sz="120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Не рекомендуется покупать участок для строительства жилого дома без значительной скидки. Совокупность выявленных ограничений делает сделку высокорисковой.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Shape 3">
            <a:extLst>
              <a:ext uri="{FF2B5EF4-FFF2-40B4-BE49-F238E27FC236}">
                <a16:creationId xmlns:a16="http://schemas.microsoft.com/office/drawing/2014/main" id="{BFF54FB0-20CB-D076-BEA8-0A8C67CA17A1}"/>
              </a:ext>
            </a:extLst>
          </p:cNvPr>
          <p:cNvSpPr/>
          <p:nvPr/>
        </p:nvSpPr>
        <p:spPr>
          <a:xfrm>
            <a:off x="452080" y="2754010"/>
            <a:ext cx="3327757" cy="2428672"/>
          </a:xfrm>
          <a:prstGeom prst="roundRect">
            <a:avLst>
              <a:gd name="adj" fmla="val 2838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01EC654A-103D-5604-1C0C-4070D560D9CD}"/>
              </a:ext>
            </a:extLst>
          </p:cNvPr>
          <p:cNvSpPr/>
          <p:nvPr/>
        </p:nvSpPr>
        <p:spPr>
          <a:xfrm>
            <a:off x="1240382" y="2920571"/>
            <a:ext cx="1967276" cy="306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900"/>
              </a:lnSpc>
            </a:pPr>
            <a:r>
              <a:rPr lang="en-US" sz="1500" b="1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🚫</a:t>
            </a:r>
            <a:r>
              <a:rPr lang="en-US" sz="15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1: Отказаться</a:t>
            </a:r>
            <a:endParaRPr lang="en-US" sz="15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5CC42A0F-2FCE-D858-E405-DD244DF9C72A}"/>
              </a:ext>
            </a:extLst>
          </p:cNvPr>
          <p:cNvSpPr/>
          <p:nvPr/>
        </p:nvSpPr>
        <p:spPr>
          <a:xfrm>
            <a:off x="665680" y="3377651"/>
            <a:ext cx="2952288" cy="17751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00"/>
              </a:lnSpc>
            </a:pPr>
            <a:r>
              <a:rPr lang="en-US" sz="12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Самый безопасный и экономически оправданный вариант. На рынке достаточно участков без подобных ограничений. Потратить время на поиск альтернативы дешевле, чем решать юридические проблемы после покупки.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CC6D9E59-437B-2B18-209D-BE17AB267769}"/>
              </a:ext>
            </a:extLst>
          </p:cNvPr>
          <p:cNvSpPr/>
          <p:nvPr/>
        </p:nvSpPr>
        <p:spPr>
          <a:xfrm>
            <a:off x="4085771" y="2754009"/>
            <a:ext cx="3149950" cy="2428673"/>
          </a:xfrm>
          <a:prstGeom prst="roundRect">
            <a:avLst>
              <a:gd name="adj" fmla="val 2838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939A043B-A819-7BDC-92DE-F68F62BD583A}"/>
              </a:ext>
            </a:extLst>
          </p:cNvPr>
          <p:cNvSpPr/>
          <p:nvPr/>
        </p:nvSpPr>
        <p:spPr>
          <a:xfrm>
            <a:off x="4422854" y="2934992"/>
            <a:ext cx="2520554" cy="3811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900"/>
              </a:lnSpc>
            </a:pPr>
            <a:r>
              <a:rPr lang="en-US" sz="1500" b="1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💰</a:t>
            </a:r>
            <a:r>
              <a:rPr lang="en-US" sz="15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2: Требовать скидку</a:t>
            </a:r>
            <a:endParaRPr lang="en-US" sz="15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7F10A1F2-7EF1-5B20-544A-547D48B789B0}"/>
              </a:ext>
            </a:extLst>
          </p:cNvPr>
          <p:cNvSpPr/>
          <p:nvPr/>
        </p:nvSpPr>
        <p:spPr>
          <a:xfrm>
            <a:off x="4358790" y="3378159"/>
            <a:ext cx="2683360" cy="157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00"/>
              </a:lnSpc>
            </a:pPr>
            <a:r>
              <a:rPr lang="en-US" sz="12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Обоснованная скидка — </a:t>
            </a: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35–45%</a:t>
            </a:r>
            <a:r>
              <a:rPr lang="en-US" sz="12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от рыночной цены. Используйте этот отчёт как документальное подтверждение при переговорах с продавцом. Риски реальны и измеримы — это сильный аргумент.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5C877281-1CC9-224F-EE8A-B5CE4298A704}"/>
              </a:ext>
            </a:extLst>
          </p:cNvPr>
          <p:cNvSpPr/>
          <p:nvPr/>
        </p:nvSpPr>
        <p:spPr>
          <a:xfrm>
            <a:off x="458979" y="5500436"/>
            <a:ext cx="6776742" cy="1619237"/>
          </a:xfrm>
          <a:prstGeom prst="roundRect">
            <a:avLst>
              <a:gd name="adj" fmla="val 2838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1D246C5-073E-65F4-DFCC-FCF754FD652E}"/>
              </a:ext>
            </a:extLst>
          </p:cNvPr>
          <p:cNvSpPr/>
          <p:nvPr/>
        </p:nvSpPr>
        <p:spPr>
          <a:xfrm>
            <a:off x="623167" y="5693651"/>
            <a:ext cx="6012125" cy="3746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900"/>
              </a:lnSpc>
            </a:pPr>
            <a:r>
              <a:rPr lang="en-US" sz="1500" b="1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⚙️</a:t>
            </a:r>
            <a:r>
              <a:rPr lang="en-US" sz="15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Вариант 3: Согласование</a:t>
            </a:r>
            <a:endParaRPr lang="en-US" sz="15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CB8E13D7-89DB-76E8-B260-229F0FE67C00}"/>
              </a:ext>
            </a:extLst>
          </p:cNvPr>
          <p:cNvSpPr/>
          <p:nvPr/>
        </p:nvSpPr>
        <p:spPr>
          <a:xfrm>
            <a:off x="665680" y="6130815"/>
            <a:ext cx="6012125" cy="672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600"/>
              </a:lnSpc>
            </a:pPr>
            <a:r>
              <a:rPr lang="en-US" sz="12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Если участок очень нравится — заказать платное согласование изменения ВРИ и вынос ЛЭП. Это дорого (сотни тысяч рублей) и долго (1–2 года). Гарантий успеха нет.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9BB70480-69B1-4AE8-26FD-F64542D62F08}"/>
              </a:ext>
            </a:extLst>
          </p:cNvPr>
          <p:cNvSpPr/>
          <p:nvPr/>
        </p:nvSpPr>
        <p:spPr>
          <a:xfrm>
            <a:off x="1531316" y="8632766"/>
            <a:ext cx="4673600" cy="5169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4050"/>
              </a:lnSpc>
            </a:pPr>
            <a:r>
              <a:rPr lang="en-US" sz="405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2–5М</a:t>
            </a:r>
            <a:endParaRPr lang="en-US" sz="40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1408FA85-B94F-3C3E-6FE1-07A465184CFC}"/>
              </a:ext>
            </a:extLst>
          </p:cNvPr>
          <p:cNvSpPr/>
          <p:nvPr/>
        </p:nvSpPr>
        <p:spPr>
          <a:xfrm>
            <a:off x="2440801" y="9302493"/>
            <a:ext cx="2678073" cy="2447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1900"/>
              </a:lnSpc>
            </a:pPr>
            <a:r>
              <a:rPr lang="en-US" sz="15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Потенциальная экономия</a:t>
            </a:r>
            <a:endParaRPr lang="en-US" sz="15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F7E83D63-2003-7F5C-0B35-D7F87DD64E0D}"/>
              </a:ext>
            </a:extLst>
          </p:cNvPr>
          <p:cNvSpPr/>
          <p:nvPr/>
        </p:nvSpPr>
        <p:spPr>
          <a:xfrm>
            <a:off x="1111419" y="9700044"/>
            <a:ext cx="5336836" cy="24479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ts val="1600"/>
              </a:lnSpc>
            </a:pPr>
            <a:r>
              <a:rPr lang="en-US" sz="12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Избежание покупки проблемного актива по полной цене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518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0">
            <a:extLst>
              <a:ext uri="{FF2B5EF4-FFF2-40B4-BE49-F238E27FC236}">
                <a16:creationId xmlns:a16="http://schemas.microsoft.com/office/drawing/2014/main" id="{4F08AE20-6F58-314B-27F8-897252BB0068}"/>
              </a:ext>
            </a:extLst>
          </p:cNvPr>
          <p:cNvSpPr/>
          <p:nvPr/>
        </p:nvSpPr>
        <p:spPr>
          <a:xfrm>
            <a:off x="309402" y="347290"/>
            <a:ext cx="5048726" cy="3857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3000"/>
              </a:lnSpc>
            </a:pPr>
            <a:r>
              <a:rPr lang="en-US" sz="24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Справка для банка и нотариуса</a:t>
            </a:r>
            <a:endParaRPr lang="en-US" sz="24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40848F43-ABF7-58A2-4C76-ACB5D47AAD9D}"/>
              </a:ext>
            </a:extLst>
          </p:cNvPr>
          <p:cNvSpPr/>
          <p:nvPr/>
        </p:nvSpPr>
        <p:spPr>
          <a:xfrm>
            <a:off x="309402" y="967092"/>
            <a:ext cx="7296881" cy="76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700"/>
              </a:lnSpc>
            </a:pPr>
            <a:r>
              <a:rPr lang="en-US" sz="110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Настоящий отчёт подготовлен на основании официальных открытых данных и предназначен для предоставления в кредитную организацию или нотариусу в качестве приложения к сделке купли-продажи земельного участка.</a:t>
            </a:r>
            <a:endParaRPr lang="en-US" sz="11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C037D069-737E-50DF-EDD7-33C2E0D6A017}"/>
              </a:ext>
            </a:extLst>
          </p:cNvPr>
          <p:cNvSpPr/>
          <p:nvPr/>
        </p:nvSpPr>
        <p:spPr>
          <a:xfrm>
            <a:off x="309402" y="1836713"/>
            <a:ext cx="160151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Источники данных: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5D4864FA-E27A-551B-195B-0E6E7723DE1A}"/>
              </a:ext>
            </a:extLst>
          </p:cNvPr>
          <p:cNvSpPr/>
          <p:nvPr/>
        </p:nvSpPr>
        <p:spPr>
          <a:xfrm>
            <a:off x="309404" y="2122105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01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0" name="Shape 4">
            <a:extLst>
              <a:ext uri="{FF2B5EF4-FFF2-40B4-BE49-F238E27FC236}">
                <a16:creationId xmlns:a16="http://schemas.microsoft.com/office/drawing/2014/main" id="{57A7FBA2-BBBA-FB3B-59FD-D8D44CE76958}"/>
              </a:ext>
            </a:extLst>
          </p:cNvPr>
          <p:cNvSpPr/>
          <p:nvPr/>
        </p:nvSpPr>
        <p:spPr>
          <a:xfrm>
            <a:off x="309404" y="2316651"/>
            <a:ext cx="2304217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1" name="Text 5">
            <a:extLst>
              <a:ext uri="{FF2B5EF4-FFF2-40B4-BE49-F238E27FC236}">
                <a16:creationId xmlns:a16="http://schemas.microsoft.com/office/drawing/2014/main" id="{CB53B4DF-91F6-9F89-C0F7-18DBAB8E1E53}"/>
              </a:ext>
            </a:extLst>
          </p:cNvPr>
          <p:cNvSpPr/>
          <p:nvPr/>
        </p:nvSpPr>
        <p:spPr>
          <a:xfrm>
            <a:off x="309404" y="2408808"/>
            <a:ext cx="2304217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Публичная кадастровая карта Росреестра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2" name="Text 6">
            <a:extLst>
              <a:ext uri="{FF2B5EF4-FFF2-40B4-BE49-F238E27FC236}">
                <a16:creationId xmlns:a16="http://schemas.microsoft.com/office/drawing/2014/main" id="{AFAA6EB4-F14A-6BC7-0A22-B3E2A8A76AC9}"/>
              </a:ext>
            </a:extLst>
          </p:cNvPr>
          <p:cNvSpPr/>
          <p:nvPr/>
        </p:nvSpPr>
        <p:spPr>
          <a:xfrm>
            <a:off x="309404" y="2831597"/>
            <a:ext cx="2304217" cy="296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Сведения о кадастровом номере, площади, границах и ВРИ участка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8CF8B917-EB80-8B12-5A5B-B7CC0E1DE980}"/>
              </a:ext>
            </a:extLst>
          </p:cNvPr>
          <p:cNvSpPr/>
          <p:nvPr/>
        </p:nvSpPr>
        <p:spPr>
          <a:xfrm>
            <a:off x="2675295" y="2122105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02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4" name="Shape 8">
            <a:extLst>
              <a:ext uri="{FF2B5EF4-FFF2-40B4-BE49-F238E27FC236}">
                <a16:creationId xmlns:a16="http://schemas.microsoft.com/office/drawing/2014/main" id="{D8EEE1B3-A452-C30E-56D8-886F03302B03}"/>
              </a:ext>
            </a:extLst>
          </p:cNvPr>
          <p:cNvSpPr/>
          <p:nvPr/>
        </p:nvSpPr>
        <p:spPr>
          <a:xfrm>
            <a:off x="2675293" y="2316651"/>
            <a:ext cx="2304336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BCD1EA04-AE01-45B2-F99B-D15599C282AC}"/>
              </a:ext>
            </a:extLst>
          </p:cNvPr>
          <p:cNvSpPr/>
          <p:nvPr/>
        </p:nvSpPr>
        <p:spPr>
          <a:xfrm>
            <a:off x="2675293" y="2408806"/>
            <a:ext cx="2304336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Национальная система пространственных данных (NSPD)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F70EF4D0-FAD1-18FA-65B1-7D8AE13EDEB9}"/>
              </a:ext>
            </a:extLst>
          </p:cNvPr>
          <p:cNvSpPr/>
          <p:nvPr/>
        </p:nvSpPr>
        <p:spPr>
          <a:xfrm>
            <a:off x="2675293" y="3024480"/>
            <a:ext cx="2304336" cy="444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Данные о зонах с особыми условиями использования территории (ЗОУИТ)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AF59ED94-3F38-45AD-7365-23B7279FD876}"/>
              </a:ext>
            </a:extLst>
          </p:cNvPr>
          <p:cNvSpPr/>
          <p:nvPr/>
        </p:nvSpPr>
        <p:spPr>
          <a:xfrm>
            <a:off x="5041305" y="2122105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03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8" name="Shape 12">
            <a:extLst>
              <a:ext uri="{FF2B5EF4-FFF2-40B4-BE49-F238E27FC236}">
                <a16:creationId xmlns:a16="http://schemas.microsoft.com/office/drawing/2014/main" id="{C2ABA04C-0E02-EFA5-6BDF-653BC05A2A89}"/>
              </a:ext>
            </a:extLst>
          </p:cNvPr>
          <p:cNvSpPr/>
          <p:nvPr/>
        </p:nvSpPr>
        <p:spPr>
          <a:xfrm>
            <a:off x="5041305" y="2316651"/>
            <a:ext cx="2304217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19" name="Text 13">
            <a:extLst>
              <a:ext uri="{FF2B5EF4-FFF2-40B4-BE49-F238E27FC236}">
                <a16:creationId xmlns:a16="http://schemas.microsoft.com/office/drawing/2014/main" id="{6F008C13-0B77-3730-2C9A-9B406E481D78}"/>
              </a:ext>
            </a:extLst>
          </p:cNvPr>
          <p:cNvSpPr/>
          <p:nvPr/>
        </p:nvSpPr>
        <p:spPr>
          <a:xfrm>
            <a:off x="5041305" y="2408806"/>
            <a:ext cx="2304217" cy="578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Генеральный план и ПЗЗ </a:t>
            </a:r>
            <a:r>
              <a:rPr lang="ru-RU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Клинского</a:t>
            </a: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городского округа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0" name="Text 14">
            <a:extLst>
              <a:ext uri="{FF2B5EF4-FFF2-40B4-BE49-F238E27FC236}">
                <a16:creationId xmlns:a16="http://schemas.microsoft.com/office/drawing/2014/main" id="{9F932F03-4671-C925-0E1F-65FF319F6FFF}"/>
              </a:ext>
            </a:extLst>
          </p:cNvPr>
          <p:cNvSpPr/>
          <p:nvPr/>
        </p:nvSpPr>
        <p:spPr>
          <a:xfrm>
            <a:off x="5041305" y="3024478"/>
            <a:ext cx="2304217" cy="296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Сведения о функциональных зонах и градостроительных регламентах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1" name="Text 15">
            <a:extLst>
              <a:ext uri="{FF2B5EF4-FFF2-40B4-BE49-F238E27FC236}">
                <a16:creationId xmlns:a16="http://schemas.microsoft.com/office/drawing/2014/main" id="{326D407E-8585-F07E-D38F-C82B566983E3}"/>
              </a:ext>
            </a:extLst>
          </p:cNvPr>
          <p:cNvSpPr/>
          <p:nvPr/>
        </p:nvSpPr>
        <p:spPr>
          <a:xfrm>
            <a:off x="309404" y="3623007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04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2" name="Shape 16">
            <a:extLst>
              <a:ext uri="{FF2B5EF4-FFF2-40B4-BE49-F238E27FC236}">
                <a16:creationId xmlns:a16="http://schemas.microsoft.com/office/drawing/2014/main" id="{1A9C1251-3459-4F57-071D-C9F7ADD5292E}"/>
              </a:ext>
            </a:extLst>
          </p:cNvPr>
          <p:cNvSpPr/>
          <p:nvPr/>
        </p:nvSpPr>
        <p:spPr>
          <a:xfrm>
            <a:off x="309404" y="3817553"/>
            <a:ext cx="2304217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3" name="Text 17">
            <a:extLst>
              <a:ext uri="{FF2B5EF4-FFF2-40B4-BE49-F238E27FC236}">
                <a16:creationId xmlns:a16="http://schemas.microsoft.com/office/drawing/2014/main" id="{EE4CB24F-39DB-5FF4-9138-771A1AF06AC4}"/>
              </a:ext>
            </a:extLst>
          </p:cNvPr>
          <p:cNvSpPr/>
          <p:nvPr/>
        </p:nvSpPr>
        <p:spPr>
          <a:xfrm>
            <a:off x="309404" y="3909710"/>
            <a:ext cx="2304217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Данные по охранным зонам ЛЭП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4" name="Text 18">
            <a:extLst>
              <a:ext uri="{FF2B5EF4-FFF2-40B4-BE49-F238E27FC236}">
                <a16:creationId xmlns:a16="http://schemas.microsoft.com/office/drawing/2014/main" id="{0E983F3F-3377-9EA8-6C0A-65690EEF2B80}"/>
              </a:ext>
            </a:extLst>
          </p:cNvPr>
          <p:cNvSpPr/>
          <p:nvPr/>
        </p:nvSpPr>
        <p:spPr>
          <a:xfrm>
            <a:off x="309404" y="4332499"/>
            <a:ext cx="2304217" cy="296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Постановление Правительства РФ № 160 от 24.02.2009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5" name="Text 19">
            <a:extLst>
              <a:ext uri="{FF2B5EF4-FFF2-40B4-BE49-F238E27FC236}">
                <a16:creationId xmlns:a16="http://schemas.microsoft.com/office/drawing/2014/main" id="{6F9A2FB2-B2AB-3932-AF4F-277C9AC89B7C}"/>
              </a:ext>
            </a:extLst>
          </p:cNvPr>
          <p:cNvSpPr/>
          <p:nvPr/>
        </p:nvSpPr>
        <p:spPr>
          <a:xfrm>
            <a:off x="2675295" y="3623007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05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6" name="Shape 20">
            <a:extLst>
              <a:ext uri="{FF2B5EF4-FFF2-40B4-BE49-F238E27FC236}">
                <a16:creationId xmlns:a16="http://schemas.microsoft.com/office/drawing/2014/main" id="{C55F0AAA-729C-B240-18A0-AAB57F677AA6}"/>
              </a:ext>
            </a:extLst>
          </p:cNvPr>
          <p:cNvSpPr/>
          <p:nvPr/>
        </p:nvSpPr>
        <p:spPr>
          <a:xfrm>
            <a:off x="2675293" y="3817553"/>
            <a:ext cx="2304336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7" name="Text 21">
            <a:extLst>
              <a:ext uri="{FF2B5EF4-FFF2-40B4-BE49-F238E27FC236}">
                <a16:creationId xmlns:a16="http://schemas.microsoft.com/office/drawing/2014/main" id="{CF685DEC-76CA-017E-DB03-A6EB6E183FB2}"/>
              </a:ext>
            </a:extLst>
          </p:cNvPr>
          <p:cNvSpPr/>
          <p:nvPr/>
        </p:nvSpPr>
        <p:spPr>
          <a:xfrm>
            <a:off x="2675293" y="3909710"/>
            <a:ext cx="1862138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ЕГРН / выписка из ЕГРН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8" name="Text 22">
            <a:extLst>
              <a:ext uri="{FF2B5EF4-FFF2-40B4-BE49-F238E27FC236}">
                <a16:creationId xmlns:a16="http://schemas.microsoft.com/office/drawing/2014/main" id="{CA67CB69-A74F-5F3D-9CE3-76E2BFDB1748}"/>
              </a:ext>
            </a:extLst>
          </p:cNvPr>
          <p:cNvSpPr/>
          <p:nvPr/>
        </p:nvSpPr>
        <p:spPr>
          <a:xfrm>
            <a:off x="2675293" y="4139619"/>
            <a:ext cx="2304336" cy="592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Правообладатель, вид права, обременения, ограничения и зарегистрированные характеристики объекта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8D690E06-2C93-5A49-435D-4F598B51F97B}"/>
              </a:ext>
            </a:extLst>
          </p:cNvPr>
          <p:cNvSpPr/>
          <p:nvPr/>
        </p:nvSpPr>
        <p:spPr>
          <a:xfrm>
            <a:off x="5041305" y="3623007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06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0" name="Shape 24">
            <a:extLst>
              <a:ext uri="{FF2B5EF4-FFF2-40B4-BE49-F238E27FC236}">
                <a16:creationId xmlns:a16="http://schemas.microsoft.com/office/drawing/2014/main" id="{0848FBAC-715D-8890-95FC-23D3C0FBA121}"/>
              </a:ext>
            </a:extLst>
          </p:cNvPr>
          <p:cNvSpPr/>
          <p:nvPr/>
        </p:nvSpPr>
        <p:spPr>
          <a:xfrm>
            <a:off x="5041305" y="3817553"/>
            <a:ext cx="2304217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C4608271-09B2-B7E8-5A96-CE335713D84B}"/>
              </a:ext>
            </a:extLst>
          </p:cNvPr>
          <p:cNvSpPr/>
          <p:nvPr/>
        </p:nvSpPr>
        <p:spPr>
          <a:xfrm>
            <a:off x="5041305" y="3909710"/>
            <a:ext cx="2304217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Кадастровые сведения о земельном участке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2" name="Text 26">
            <a:extLst>
              <a:ext uri="{FF2B5EF4-FFF2-40B4-BE49-F238E27FC236}">
                <a16:creationId xmlns:a16="http://schemas.microsoft.com/office/drawing/2014/main" id="{2E2A8187-7112-4363-16C2-9654BAF05BDE}"/>
              </a:ext>
            </a:extLst>
          </p:cNvPr>
          <p:cNvSpPr/>
          <p:nvPr/>
        </p:nvSpPr>
        <p:spPr>
          <a:xfrm>
            <a:off x="5041305" y="4332501"/>
            <a:ext cx="2304217" cy="444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Площадь, категория земель, кадастровая стоимость и дата постановки на учёт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53EB1655-8A5F-0882-511E-DA9F1E13CDB2}"/>
              </a:ext>
            </a:extLst>
          </p:cNvPr>
          <p:cNvSpPr/>
          <p:nvPr/>
        </p:nvSpPr>
        <p:spPr>
          <a:xfrm>
            <a:off x="309404" y="4931028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07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385F83A4-291C-F169-8A42-DC7E82BB82F4}"/>
              </a:ext>
            </a:extLst>
          </p:cNvPr>
          <p:cNvSpPr/>
          <p:nvPr/>
        </p:nvSpPr>
        <p:spPr>
          <a:xfrm>
            <a:off x="309404" y="5125574"/>
            <a:ext cx="2304217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7F10CB2E-3F95-DD2E-5FBB-FE3F3C2E2EDE}"/>
              </a:ext>
            </a:extLst>
          </p:cNvPr>
          <p:cNvSpPr/>
          <p:nvPr/>
        </p:nvSpPr>
        <p:spPr>
          <a:xfrm>
            <a:off x="309404" y="5217730"/>
            <a:ext cx="2304217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Сведения о зонах затопления и подтопления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2D3224EB-D754-371B-96A6-C83221877B6B}"/>
              </a:ext>
            </a:extLst>
          </p:cNvPr>
          <p:cNvSpPr/>
          <p:nvPr/>
        </p:nvSpPr>
        <p:spPr>
          <a:xfrm>
            <a:off x="309404" y="5640521"/>
            <a:ext cx="2304217" cy="444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Проверка риска размещения участка в территориях с потенциальным гидрологическим воздействием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7" name="Text 31">
            <a:extLst>
              <a:ext uri="{FF2B5EF4-FFF2-40B4-BE49-F238E27FC236}">
                <a16:creationId xmlns:a16="http://schemas.microsoft.com/office/drawing/2014/main" id="{8F80E2EA-F307-22C0-E4F7-A9E6E31CBCB3}"/>
              </a:ext>
            </a:extLst>
          </p:cNvPr>
          <p:cNvSpPr/>
          <p:nvPr/>
        </p:nvSpPr>
        <p:spPr>
          <a:xfrm>
            <a:off x="2675295" y="4931028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08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8" name="Shape 32">
            <a:extLst>
              <a:ext uri="{FF2B5EF4-FFF2-40B4-BE49-F238E27FC236}">
                <a16:creationId xmlns:a16="http://schemas.microsoft.com/office/drawing/2014/main" id="{28CF1DC3-80C6-2B71-B2AB-52B2254FD628}"/>
              </a:ext>
            </a:extLst>
          </p:cNvPr>
          <p:cNvSpPr/>
          <p:nvPr/>
        </p:nvSpPr>
        <p:spPr>
          <a:xfrm>
            <a:off x="2675293" y="5125574"/>
            <a:ext cx="2304336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9" name="Text 33">
            <a:extLst>
              <a:ext uri="{FF2B5EF4-FFF2-40B4-BE49-F238E27FC236}">
                <a16:creationId xmlns:a16="http://schemas.microsoft.com/office/drawing/2014/main" id="{EB565F86-553B-2309-5BAD-299028B3BB80}"/>
              </a:ext>
            </a:extLst>
          </p:cNvPr>
          <p:cNvSpPr/>
          <p:nvPr/>
        </p:nvSpPr>
        <p:spPr>
          <a:xfrm>
            <a:off x="2675293" y="5217730"/>
            <a:ext cx="2304336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Сведения о санитарно-защитных зонах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0" name="Text 34">
            <a:extLst>
              <a:ext uri="{FF2B5EF4-FFF2-40B4-BE49-F238E27FC236}">
                <a16:creationId xmlns:a16="http://schemas.microsoft.com/office/drawing/2014/main" id="{5FDCE8DA-2286-082E-1FAE-BF1BD7D0A557}"/>
              </a:ext>
            </a:extLst>
          </p:cNvPr>
          <p:cNvSpPr/>
          <p:nvPr/>
        </p:nvSpPr>
        <p:spPr>
          <a:xfrm>
            <a:off x="2675293" y="5640521"/>
            <a:ext cx="2304336" cy="444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Проверка наличия санитарных ограничений, влияющих на использование участка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1" name="Text 35">
            <a:extLst>
              <a:ext uri="{FF2B5EF4-FFF2-40B4-BE49-F238E27FC236}">
                <a16:creationId xmlns:a16="http://schemas.microsoft.com/office/drawing/2014/main" id="{01B4F428-13EC-48EA-D77D-0ACAFC5735D3}"/>
              </a:ext>
            </a:extLst>
          </p:cNvPr>
          <p:cNvSpPr/>
          <p:nvPr/>
        </p:nvSpPr>
        <p:spPr>
          <a:xfrm>
            <a:off x="5041305" y="4931028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09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2" name="Shape 36">
            <a:extLst>
              <a:ext uri="{FF2B5EF4-FFF2-40B4-BE49-F238E27FC236}">
                <a16:creationId xmlns:a16="http://schemas.microsoft.com/office/drawing/2014/main" id="{EBA932BE-360F-0215-8A53-969729A3DAC0}"/>
              </a:ext>
            </a:extLst>
          </p:cNvPr>
          <p:cNvSpPr/>
          <p:nvPr/>
        </p:nvSpPr>
        <p:spPr>
          <a:xfrm>
            <a:off x="5041305" y="5125574"/>
            <a:ext cx="2304217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3" name="Text 37">
            <a:extLst>
              <a:ext uri="{FF2B5EF4-FFF2-40B4-BE49-F238E27FC236}">
                <a16:creationId xmlns:a16="http://schemas.microsoft.com/office/drawing/2014/main" id="{5CB1CE15-0C5E-9302-3748-70E05C931417}"/>
              </a:ext>
            </a:extLst>
          </p:cNvPr>
          <p:cNvSpPr/>
          <p:nvPr/>
        </p:nvSpPr>
        <p:spPr>
          <a:xfrm>
            <a:off x="5041305" y="5217730"/>
            <a:ext cx="2304217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Сведения об охранных зонах инженерных сетей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4" name="Text 38">
            <a:extLst>
              <a:ext uri="{FF2B5EF4-FFF2-40B4-BE49-F238E27FC236}">
                <a16:creationId xmlns:a16="http://schemas.microsoft.com/office/drawing/2014/main" id="{F9FC1A8A-2DD2-99CB-2171-2D9D9362EDB7}"/>
              </a:ext>
            </a:extLst>
          </p:cNvPr>
          <p:cNvSpPr/>
          <p:nvPr/>
        </p:nvSpPr>
        <p:spPr>
          <a:xfrm>
            <a:off x="5041305" y="5640521"/>
            <a:ext cx="2304217" cy="5924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Ограничения, связанные с газопроводами, водопроводами, канализацией и иными коммуникациями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5" name="Text 39">
            <a:extLst>
              <a:ext uri="{FF2B5EF4-FFF2-40B4-BE49-F238E27FC236}">
                <a16:creationId xmlns:a16="http://schemas.microsoft.com/office/drawing/2014/main" id="{38C746C0-1E02-89F7-738F-D3B076C5DC56}"/>
              </a:ext>
            </a:extLst>
          </p:cNvPr>
          <p:cNvSpPr/>
          <p:nvPr/>
        </p:nvSpPr>
        <p:spPr>
          <a:xfrm>
            <a:off x="309404" y="6387162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10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6" name="Shape 40">
            <a:extLst>
              <a:ext uri="{FF2B5EF4-FFF2-40B4-BE49-F238E27FC236}">
                <a16:creationId xmlns:a16="http://schemas.microsoft.com/office/drawing/2014/main" id="{F2AC4BB7-831D-4D65-C96C-110E0EF3FF36}"/>
              </a:ext>
            </a:extLst>
          </p:cNvPr>
          <p:cNvSpPr/>
          <p:nvPr/>
        </p:nvSpPr>
        <p:spPr>
          <a:xfrm>
            <a:off x="309402" y="6581708"/>
            <a:ext cx="3487222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7" name="Text 41">
            <a:extLst>
              <a:ext uri="{FF2B5EF4-FFF2-40B4-BE49-F238E27FC236}">
                <a16:creationId xmlns:a16="http://schemas.microsoft.com/office/drawing/2014/main" id="{8A6CA71C-EEE9-989B-A925-EF83AB52542A}"/>
              </a:ext>
            </a:extLst>
          </p:cNvPr>
          <p:cNvSpPr/>
          <p:nvPr/>
        </p:nvSpPr>
        <p:spPr>
          <a:xfrm>
            <a:off x="309402" y="6673865"/>
            <a:ext cx="3487222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Сведения о водоохранных зонах и прибрежных защитных полосах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8" name="Text 42">
            <a:extLst>
              <a:ext uri="{FF2B5EF4-FFF2-40B4-BE49-F238E27FC236}">
                <a16:creationId xmlns:a16="http://schemas.microsoft.com/office/drawing/2014/main" id="{875FF53B-8D9F-9C1A-5F35-150C256CE9B6}"/>
              </a:ext>
            </a:extLst>
          </p:cNvPr>
          <p:cNvSpPr/>
          <p:nvPr/>
        </p:nvSpPr>
        <p:spPr>
          <a:xfrm>
            <a:off x="309402" y="7096654"/>
            <a:ext cx="3487222" cy="296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Ограничения использования территории вблизи водных объектов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9" name="Text 43">
            <a:extLst>
              <a:ext uri="{FF2B5EF4-FFF2-40B4-BE49-F238E27FC236}">
                <a16:creationId xmlns:a16="http://schemas.microsoft.com/office/drawing/2014/main" id="{11B4B2C6-24AC-8004-3D97-F248808BE9B8}"/>
              </a:ext>
            </a:extLst>
          </p:cNvPr>
          <p:cNvSpPr/>
          <p:nvPr/>
        </p:nvSpPr>
        <p:spPr>
          <a:xfrm>
            <a:off x="3858300" y="6387162"/>
            <a:ext cx="123349" cy="15430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11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0" name="Shape 44">
            <a:extLst>
              <a:ext uri="{FF2B5EF4-FFF2-40B4-BE49-F238E27FC236}">
                <a16:creationId xmlns:a16="http://schemas.microsoft.com/office/drawing/2014/main" id="{32C39C13-D7D7-997A-6731-0E16B0B32AA2}"/>
              </a:ext>
            </a:extLst>
          </p:cNvPr>
          <p:cNvSpPr/>
          <p:nvPr/>
        </p:nvSpPr>
        <p:spPr>
          <a:xfrm>
            <a:off x="3858298" y="6581708"/>
            <a:ext cx="3487222" cy="15240"/>
          </a:xfrm>
          <a:prstGeom prst="rect">
            <a:avLst/>
          </a:prstGeom>
          <a:solidFill>
            <a:srgbClr val="835E54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1" name="Text 45">
            <a:extLst>
              <a:ext uri="{FF2B5EF4-FFF2-40B4-BE49-F238E27FC236}">
                <a16:creationId xmlns:a16="http://schemas.microsoft.com/office/drawing/2014/main" id="{E2F08B98-A3F6-A424-B413-F3995551390F}"/>
              </a:ext>
            </a:extLst>
          </p:cNvPr>
          <p:cNvSpPr/>
          <p:nvPr/>
        </p:nvSpPr>
        <p:spPr>
          <a:xfrm>
            <a:off x="3858298" y="6673865"/>
            <a:ext cx="3487222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Сведения о лесном фонде и особо охраняемых территориях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2" name="Text 46">
            <a:extLst>
              <a:ext uri="{FF2B5EF4-FFF2-40B4-BE49-F238E27FC236}">
                <a16:creationId xmlns:a16="http://schemas.microsoft.com/office/drawing/2014/main" id="{71C6CDE5-57B4-5656-7054-9A44A0C36F4B}"/>
              </a:ext>
            </a:extLst>
          </p:cNvPr>
          <p:cNvSpPr/>
          <p:nvPr/>
        </p:nvSpPr>
        <p:spPr>
          <a:xfrm>
            <a:off x="3858298" y="7096654"/>
            <a:ext cx="3487222" cy="2962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Проверка пересечения с землями лесного фонда, ООПТ и иными природоохранными зонами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3" name="Shape 47">
            <a:extLst>
              <a:ext uri="{FF2B5EF4-FFF2-40B4-BE49-F238E27FC236}">
                <a16:creationId xmlns:a16="http://schemas.microsoft.com/office/drawing/2014/main" id="{C67A3148-3FDC-808B-759A-742FAC890527}"/>
              </a:ext>
            </a:extLst>
          </p:cNvPr>
          <p:cNvSpPr/>
          <p:nvPr/>
        </p:nvSpPr>
        <p:spPr>
          <a:xfrm>
            <a:off x="270416" y="8029880"/>
            <a:ext cx="7036237" cy="1457563"/>
          </a:xfrm>
          <a:prstGeom prst="roundRect">
            <a:avLst>
              <a:gd name="adj" fmla="val 3557"/>
            </a:avLst>
          </a:prstGeom>
          <a:solidFill>
            <a:srgbClr val="EBE2E0"/>
          </a:solidFill>
          <a:ln w="7620">
            <a:solidFill>
              <a:srgbClr val="D1C8C6"/>
            </a:solidFill>
            <a:prstDash val="solid"/>
          </a:ln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4" name="Shape 48">
            <a:extLst>
              <a:ext uri="{FF2B5EF4-FFF2-40B4-BE49-F238E27FC236}">
                <a16:creationId xmlns:a16="http://schemas.microsoft.com/office/drawing/2014/main" id="{DA2908E4-B619-E1A7-AE09-C3FDB51D5763}"/>
              </a:ext>
            </a:extLst>
          </p:cNvPr>
          <p:cNvSpPr/>
          <p:nvPr/>
        </p:nvSpPr>
        <p:spPr>
          <a:xfrm>
            <a:off x="278036" y="8037498"/>
            <a:ext cx="1755219" cy="817602"/>
          </a:xfrm>
          <a:prstGeom prst="roundRect">
            <a:avLst>
              <a:gd name="adj" fmla="val 6341"/>
            </a:avLst>
          </a:prstGeom>
          <a:solidFill>
            <a:srgbClr val="EBE2E0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5" name="Text 49">
            <a:extLst>
              <a:ext uri="{FF2B5EF4-FFF2-40B4-BE49-F238E27FC236}">
                <a16:creationId xmlns:a16="http://schemas.microsoft.com/office/drawing/2014/main" id="{66B26DCB-7814-CD37-C545-108F49812D0A}"/>
              </a:ext>
            </a:extLst>
          </p:cNvPr>
          <p:cNvSpPr/>
          <p:nvPr/>
        </p:nvSpPr>
        <p:spPr>
          <a:xfrm>
            <a:off x="401383" y="8160849"/>
            <a:ext cx="1508522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Сервис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6" name="Text 50">
            <a:extLst>
              <a:ext uri="{FF2B5EF4-FFF2-40B4-BE49-F238E27FC236}">
                <a16:creationId xmlns:a16="http://schemas.microsoft.com/office/drawing/2014/main" id="{8B9D4756-F8EF-E543-FCBA-D1463C9B2ABE}"/>
              </a:ext>
            </a:extLst>
          </p:cNvPr>
          <p:cNvSpPr/>
          <p:nvPr/>
        </p:nvSpPr>
        <p:spPr>
          <a:xfrm>
            <a:off x="401383" y="8390757"/>
            <a:ext cx="1508522" cy="148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GeoRisk Check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7" name="Shape 51">
            <a:extLst>
              <a:ext uri="{FF2B5EF4-FFF2-40B4-BE49-F238E27FC236}">
                <a16:creationId xmlns:a16="http://schemas.microsoft.com/office/drawing/2014/main" id="{C3569E76-2479-5232-4264-A86FF8E9D8FD}"/>
              </a:ext>
            </a:extLst>
          </p:cNvPr>
          <p:cNvSpPr/>
          <p:nvPr/>
        </p:nvSpPr>
        <p:spPr>
          <a:xfrm>
            <a:off x="2033256" y="8037498"/>
            <a:ext cx="1755219" cy="817602"/>
          </a:xfrm>
          <a:prstGeom prst="rect">
            <a:avLst/>
          </a:prstGeom>
          <a:solidFill>
            <a:srgbClr val="EBE2E0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8" name="Shape 52">
            <a:extLst>
              <a:ext uri="{FF2B5EF4-FFF2-40B4-BE49-F238E27FC236}">
                <a16:creationId xmlns:a16="http://schemas.microsoft.com/office/drawing/2014/main" id="{942E26DE-5073-CEA6-E1B3-120C0A4A279B}"/>
              </a:ext>
            </a:extLst>
          </p:cNvPr>
          <p:cNvSpPr/>
          <p:nvPr/>
        </p:nvSpPr>
        <p:spPr>
          <a:xfrm>
            <a:off x="2033254" y="8037498"/>
            <a:ext cx="15240" cy="817602"/>
          </a:xfrm>
          <a:prstGeom prst="roundRect">
            <a:avLst>
              <a:gd name="adj" fmla="val 340200"/>
            </a:avLst>
          </a:prstGeom>
          <a:solidFill>
            <a:srgbClr val="D1C8C6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9" name="Text 53">
            <a:extLst>
              <a:ext uri="{FF2B5EF4-FFF2-40B4-BE49-F238E27FC236}">
                <a16:creationId xmlns:a16="http://schemas.microsoft.com/office/drawing/2014/main" id="{5B583E5F-65F2-EA60-22A2-CCDF7220D17E}"/>
              </a:ext>
            </a:extLst>
          </p:cNvPr>
          <p:cNvSpPr/>
          <p:nvPr/>
        </p:nvSpPr>
        <p:spPr>
          <a:xfrm>
            <a:off x="2156602" y="8160849"/>
            <a:ext cx="1508522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Кадастровый номер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0" name="Text 54">
            <a:extLst>
              <a:ext uri="{FF2B5EF4-FFF2-40B4-BE49-F238E27FC236}">
                <a16:creationId xmlns:a16="http://schemas.microsoft.com/office/drawing/2014/main" id="{46BAE7B3-D194-5484-5E5D-07B0C9B73DA4}"/>
              </a:ext>
            </a:extLst>
          </p:cNvPr>
          <p:cNvSpPr/>
          <p:nvPr/>
        </p:nvSpPr>
        <p:spPr>
          <a:xfrm>
            <a:off x="2156602" y="8583638"/>
            <a:ext cx="1508522" cy="148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10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50:</a:t>
            </a:r>
            <a:r>
              <a:rPr lang="ru-RU" sz="1000" dirty="0">
                <a:solidFill>
                  <a:srgbClr val="443728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03:0020136:54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1" name="Shape 55">
            <a:extLst>
              <a:ext uri="{FF2B5EF4-FFF2-40B4-BE49-F238E27FC236}">
                <a16:creationId xmlns:a16="http://schemas.microsoft.com/office/drawing/2014/main" id="{7DFCE7B2-47A7-EBB7-3D30-6A2A383ADB1C}"/>
              </a:ext>
            </a:extLst>
          </p:cNvPr>
          <p:cNvSpPr/>
          <p:nvPr/>
        </p:nvSpPr>
        <p:spPr>
          <a:xfrm>
            <a:off x="3788475" y="8037498"/>
            <a:ext cx="1755219" cy="817602"/>
          </a:xfrm>
          <a:prstGeom prst="rect">
            <a:avLst/>
          </a:prstGeom>
          <a:solidFill>
            <a:srgbClr val="EBE2E0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2" name="Shape 56">
            <a:extLst>
              <a:ext uri="{FF2B5EF4-FFF2-40B4-BE49-F238E27FC236}">
                <a16:creationId xmlns:a16="http://schemas.microsoft.com/office/drawing/2014/main" id="{2E34E1A6-A68E-789F-F3E1-97FFE869BF8F}"/>
              </a:ext>
            </a:extLst>
          </p:cNvPr>
          <p:cNvSpPr/>
          <p:nvPr/>
        </p:nvSpPr>
        <p:spPr>
          <a:xfrm>
            <a:off x="3788473" y="8037498"/>
            <a:ext cx="15240" cy="817602"/>
          </a:xfrm>
          <a:prstGeom prst="roundRect">
            <a:avLst>
              <a:gd name="adj" fmla="val 340200"/>
            </a:avLst>
          </a:prstGeom>
          <a:solidFill>
            <a:srgbClr val="D1C8C6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3" name="Text 57">
            <a:extLst>
              <a:ext uri="{FF2B5EF4-FFF2-40B4-BE49-F238E27FC236}">
                <a16:creationId xmlns:a16="http://schemas.microsoft.com/office/drawing/2014/main" id="{D37BAF3A-695A-B8E9-E079-3A68F123792A}"/>
              </a:ext>
            </a:extLst>
          </p:cNvPr>
          <p:cNvSpPr/>
          <p:nvPr/>
        </p:nvSpPr>
        <p:spPr>
          <a:xfrm>
            <a:off x="3911822" y="8160849"/>
            <a:ext cx="1508522" cy="3857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Дата формирования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4" name="Text 58">
            <a:extLst>
              <a:ext uri="{FF2B5EF4-FFF2-40B4-BE49-F238E27FC236}">
                <a16:creationId xmlns:a16="http://schemas.microsoft.com/office/drawing/2014/main" id="{16B2CE04-D3D7-C81A-B75B-915C21183CCC}"/>
              </a:ext>
            </a:extLst>
          </p:cNvPr>
          <p:cNvSpPr/>
          <p:nvPr/>
        </p:nvSpPr>
        <p:spPr>
          <a:xfrm>
            <a:off x="3911822" y="8583638"/>
            <a:ext cx="1508522" cy="148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02 апреля 2026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5" name="Shape 59">
            <a:extLst>
              <a:ext uri="{FF2B5EF4-FFF2-40B4-BE49-F238E27FC236}">
                <a16:creationId xmlns:a16="http://schemas.microsoft.com/office/drawing/2014/main" id="{5F1EFBB6-FDC1-B60F-06D9-525BF8A1DB0C}"/>
              </a:ext>
            </a:extLst>
          </p:cNvPr>
          <p:cNvSpPr/>
          <p:nvPr/>
        </p:nvSpPr>
        <p:spPr>
          <a:xfrm>
            <a:off x="5543692" y="8037498"/>
            <a:ext cx="1755338" cy="817602"/>
          </a:xfrm>
          <a:prstGeom prst="rect">
            <a:avLst/>
          </a:prstGeom>
          <a:solidFill>
            <a:srgbClr val="EBE2E0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6" name="Shape 60">
            <a:extLst>
              <a:ext uri="{FF2B5EF4-FFF2-40B4-BE49-F238E27FC236}">
                <a16:creationId xmlns:a16="http://schemas.microsoft.com/office/drawing/2014/main" id="{D73BDE18-A619-88CD-C730-560EE190CE24}"/>
              </a:ext>
            </a:extLst>
          </p:cNvPr>
          <p:cNvSpPr/>
          <p:nvPr/>
        </p:nvSpPr>
        <p:spPr>
          <a:xfrm>
            <a:off x="5543692" y="8037498"/>
            <a:ext cx="15240" cy="817602"/>
          </a:xfrm>
          <a:prstGeom prst="roundRect">
            <a:avLst>
              <a:gd name="adj" fmla="val 340200"/>
            </a:avLst>
          </a:prstGeom>
          <a:solidFill>
            <a:srgbClr val="D1C8C6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7" name="Text 61">
            <a:extLst>
              <a:ext uri="{FF2B5EF4-FFF2-40B4-BE49-F238E27FC236}">
                <a16:creationId xmlns:a16="http://schemas.microsoft.com/office/drawing/2014/main" id="{E518ED7F-1105-EF16-9D86-A63DCF2E3E16}"/>
              </a:ext>
            </a:extLst>
          </p:cNvPr>
          <p:cNvSpPr/>
          <p:nvPr/>
        </p:nvSpPr>
        <p:spPr>
          <a:xfrm>
            <a:off x="5667043" y="8160849"/>
            <a:ext cx="1508641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Заказчик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8" name="Text 62">
            <a:extLst>
              <a:ext uri="{FF2B5EF4-FFF2-40B4-BE49-F238E27FC236}">
                <a16:creationId xmlns:a16="http://schemas.microsoft.com/office/drawing/2014/main" id="{79C27769-2445-944F-9A86-70F2FC66D15D}"/>
              </a:ext>
            </a:extLst>
          </p:cNvPr>
          <p:cNvSpPr/>
          <p:nvPr/>
        </p:nvSpPr>
        <p:spPr>
          <a:xfrm>
            <a:off x="5667043" y="8390757"/>
            <a:ext cx="1508641" cy="148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Иванов И.И.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69" name="Shape 63">
            <a:extLst>
              <a:ext uri="{FF2B5EF4-FFF2-40B4-BE49-F238E27FC236}">
                <a16:creationId xmlns:a16="http://schemas.microsoft.com/office/drawing/2014/main" id="{9C65565A-401A-D149-59AC-C564FC786BA4}"/>
              </a:ext>
            </a:extLst>
          </p:cNvPr>
          <p:cNvSpPr/>
          <p:nvPr/>
        </p:nvSpPr>
        <p:spPr>
          <a:xfrm>
            <a:off x="278036" y="8855102"/>
            <a:ext cx="3510439" cy="624721"/>
          </a:xfrm>
          <a:prstGeom prst="rect">
            <a:avLst/>
          </a:prstGeom>
          <a:solidFill>
            <a:srgbClr val="EBE2E0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0" name="Shape 64">
            <a:extLst>
              <a:ext uri="{FF2B5EF4-FFF2-40B4-BE49-F238E27FC236}">
                <a16:creationId xmlns:a16="http://schemas.microsoft.com/office/drawing/2014/main" id="{041021BD-0AC8-44A3-5AED-427694F0C6F7}"/>
              </a:ext>
            </a:extLst>
          </p:cNvPr>
          <p:cNvSpPr/>
          <p:nvPr/>
        </p:nvSpPr>
        <p:spPr>
          <a:xfrm>
            <a:off x="278036" y="8855100"/>
            <a:ext cx="3510439" cy="15240"/>
          </a:xfrm>
          <a:prstGeom prst="roundRect">
            <a:avLst>
              <a:gd name="adj" fmla="val 340200"/>
            </a:avLst>
          </a:prstGeom>
          <a:solidFill>
            <a:srgbClr val="D1C8C6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1" name="Text 65">
            <a:extLst>
              <a:ext uri="{FF2B5EF4-FFF2-40B4-BE49-F238E27FC236}">
                <a16:creationId xmlns:a16="http://schemas.microsoft.com/office/drawing/2014/main" id="{E10A2576-5187-4C17-BF2D-925503259378}"/>
              </a:ext>
            </a:extLst>
          </p:cNvPr>
          <p:cNvSpPr/>
          <p:nvPr/>
        </p:nvSpPr>
        <p:spPr>
          <a:xfrm>
            <a:off x="401383" y="8978451"/>
            <a:ext cx="154305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Risk Score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2" name="Text 66">
            <a:extLst>
              <a:ext uri="{FF2B5EF4-FFF2-40B4-BE49-F238E27FC236}">
                <a16:creationId xmlns:a16="http://schemas.microsoft.com/office/drawing/2014/main" id="{62B454C6-1C2A-9246-7179-BB0820DE772A}"/>
              </a:ext>
            </a:extLst>
          </p:cNvPr>
          <p:cNvSpPr/>
          <p:nvPr/>
        </p:nvSpPr>
        <p:spPr>
          <a:xfrm>
            <a:off x="401385" y="9208359"/>
            <a:ext cx="3263741" cy="148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8 / 10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3" name="Shape 67">
            <a:extLst>
              <a:ext uri="{FF2B5EF4-FFF2-40B4-BE49-F238E27FC236}">
                <a16:creationId xmlns:a16="http://schemas.microsoft.com/office/drawing/2014/main" id="{165E0204-F019-9093-F792-A22CF2646B0B}"/>
              </a:ext>
            </a:extLst>
          </p:cNvPr>
          <p:cNvSpPr/>
          <p:nvPr/>
        </p:nvSpPr>
        <p:spPr>
          <a:xfrm>
            <a:off x="3788473" y="8855102"/>
            <a:ext cx="3510558" cy="624721"/>
          </a:xfrm>
          <a:prstGeom prst="rect">
            <a:avLst/>
          </a:prstGeom>
          <a:solidFill>
            <a:srgbClr val="EBE2E0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4" name="Shape 68">
            <a:extLst>
              <a:ext uri="{FF2B5EF4-FFF2-40B4-BE49-F238E27FC236}">
                <a16:creationId xmlns:a16="http://schemas.microsoft.com/office/drawing/2014/main" id="{53D7A03B-6B8D-1382-CC5B-0AE237636D30}"/>
              </a:ext>
            </a:extLst>
          </p:cNvPr>
          <p:cNvSpPr/>
          <p:nvPr/>
        </p:nvSpPr>
        <p:spPr>
          <a:xfrm>
            <a:off x="3788473" y="8855102"/>
            <a:ext cx="15240" cy="624721"/>
          </a:xfrm>
          <a:prstGeom prst="roundRect">
            <a:avLst>
              <a:gd name="adj" fmla="val 340200"/>
            </a:avLst>
          </a:prstGeom>
          <a:solidFill>
            <a:srgbClr val="D1C8C6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5" name="Shape 69">
            <a:extLst>
              <a:ext uri="{FF2B5EF4-FFF2-40B4-BE49-F238E27FC236}">
                <a16:creationId xmlns:a16="http://schemas.microsoft.com/office/drawing/2014/main" id="{BBF197B9-38CF-5DEA-BFE2-FED849ED53A8}"/>
              </a:ext>
            </a:extLst>
          </p:cNvPr>
          <p:cNvSpPr/>
          <p:nvPr/>
        </p:nvSpPr>
        <p:spPr>
          <a:xfrm>
            <a:off x="3788473" y="8855100"/>
            <a:ext cx="3510558" cy="15240"/>
          </a:xfrm>
          <a:prstGeom prst="roundRect">
            <a:avLst>
              <a:gd name="adj" fmla="val 340200"/>
            </a:avLst>
          </a:prstGeom>
          <a:solidFill>
            <a:srgbClr val="D1C8C6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6" name="Text 70">
            <a:extLst>
              <a:ext uri="{FF2B5EF4-FFF2-40B4-BE49-F238E27FC236}">
                <a16:creationId xmlns:a16="http://schemas.microsoft.com/office/drawing/2014/main" id="{1AD2BC70-91EC-3D23-24C3-6D5B2870A458}"/>
              </a:ext>
            </a:extLst>
          </p:cNvPr>
          <p:cNvSpPr/>
          <p:nvPr/>
        </p:nvSpPr>
        <p:spPr>
          <a:xfrm>
            <a:off x="3911822" y="8978451"/>
            <a:ext cx="1543050" cy="1928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200" b="1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Вердикт</a:t>
            </a:r>
            <a:endParaRPr lang="en-US" sz="120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7" name="Text 71">
            <a:extLst>
              <a:ext uri="{FF2B5EF4-FFF2-40B4-BE49-F238E27FC236}">
                <a16:creationId xmlns:a16="http://schemas.microsoft.com/office/drawing/2014/main" id="{A44197D0-3C57-4658-F40C-A2FFF9D324CA}"/>
              </a:ext>
            </a:extLst>
          </p:cNvPr>
          <p:cNvSpPr/>
          <p:nvPr/>
        </p:nvSpPr>
        <p:spPr>
          <a:xfrm>
            <a:off x="3911822" y="9208359"/>
            <a:ext cx="3263860" cy="1481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443728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Высокий риск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8" name="Shape 72">
            <a:extLst>
              <a:ext uri="{FF2B5EF4-FFF2-40B4-BE49-F238E27FC236}">
                <a16:creationId xmlns:a16="http://schemas.microsoft.com/office/drawing/2014/main" id="{8CB96232-3813-2017-9198-629155F778E1}"/>
              </a:ext>
            </a:extLst>
          </p:cNvPr>
          <p:cNvSpPr/>
          <p:nvPr/>
        </p:nvSpPr>
        <p:spPr>
          <a:xfrm>
            <a:off x="285596" y="9576982"/>
            <a:ext cx="7036237" cy="22979"/>
          </a:xfrm>
          <a:prstGeom prst="rect">
            <a:avLst/>
          </a:prstGeom>
          <a:solidFill>
            <a:srgbClr val="443728">
              <a:alpha val="50000"/>
            </a:srgbClr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79" name="Shape 73">
            <a:extLst>
              <a:ext uri="{FF2B5EF4-FFF2-40B4-BE49-F238E27FC236}">
                <a16:creationId xmlns:a16="http://schemas.microsoft.com/office/drawing/2014/main" id="{173FAC46-50F4-6666-75DD-435380D9555F}"/>
              </a:ext>
            </a:extLst>
          </p:cNvPr>
          <p:cNvSpPr/>
          <p:nvPr/>
        </p:nvSpPr>
        <p:spPr>
          <a:xfrm>
            <a:off x="285596" y="9669351"/>
            <a:ext cx="7036237" cy="654010"/>
          </a:xfrm>
          <a:prstGeom prst="roundRect">
            <a:avLst>
              <a:gd name="adj" fmla="val 7927"/>
            </a:avLst>
          </a:prstGeom>
          <a:solidFill>
            <a:srgbClr val="E1D4D0"/>
          </a:solidFill>
          <a:ln/>
        </p:spPr>
        <p:txBody>
          <a:bodyPr/>
          <a:lstStyle/>
          <a:p>
            <a:endParaRPr lang="ru-RU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80" name="Image 0" descr="preencoded.png">
            <a:extLst>
              <a:ext uri="{FF2B5EF4-FFF2-40B4-BE49-F238E27FC236}">
                <a16:creationId xmlns:a16="http://schemas.microsoft.com/office/drawing/2014/main" id="{102167EC-326A-384B-A142-BFD782709A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8945" y="9829847"/>
            <a:ext cx="154305" cy="123349"/>
          </a:xfrm>
          <a:prstGeom prst="rect">
            <a:avLst/>
          </a:prstGeom>
        </p:spPr>
      </p:pic>
      <p:sp>
        <p:nvSpPr>
          <p:cNvPr id="81" name="Text 74">
            <a:extLst>
              <a:ext uri="{FF2B5EF4-FFF2-40B4-BE49-F238E27FC236}">
                <a16:creationId xmlns:a16="http://schemas.microsoft.com/office/drawing/2014/main" id="{569C6E14-337E-A9AF-312C-353BEF44032B}"/>
              </a:ext>
            </a:extLst>
          </p:cNvPr>
          <p:cNvSpPr/>
          <p:nvPr/>
        </p:nvSpPr>
        <p:spPr>
          <a:xfrm>
            <a:off x="686599" y="9761862"/>
            <a:ext cx="6511885" cy="444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1150"/>
              </a:lnSpc>
            </a:pPr>
            <a:r>
              <a:rPr lang="en-US" sz="950" dirty="0">
                <a:solidFill>
                  <a:srgbClr val="000000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Данный отчёт носит информационный характер и не является юридическим заключением. Для принятия окончательного решения рекомендуется проконсультироваться с юристом по недвижимости и кадастровым инженером.</a:t>
            </a:r>
            <a:endParaRPr lang="en-US" sz="950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738566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Тема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2647</TotalTime>
  <Words>851</Words>
  <Application>Microsoft Office PowerPoint</Application>
  <PresentationFormat>Произвольный</PresentationFormat>
  <Paragraphs>102</Paragraphs>
  <Slides>5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5</vt:i4>
      </vt:variant>
    </vt:vector>
  </HeadingPairs>
  <TitlesOfParts>
    <vt:vector size="11" baseType="lpstr">
      <vt:lpstr>Aptos</vt:lpstr>
      <vt:lpstr>Aptos Display</vt:lpstr>
      <vt:lpstr>Arial</vt:lpstr>
      <vt:lpstr>Crimson Pro Bold</vt:lpstr>
      <vt:lpstr>Open Sans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Габбасов Камиль Азатович</dc:creator>
  <cp:lastModifiedBy>Габбасов Камиль Азатович</cp:lastModifiedBy>
  <cp:revision>11</cp:revision>
  <dcterms:created xsi:type="dcterms:W3CDTF">2026-04-02T16:35:33Z</dcterms:created>
  <dcterms:modified xsi:type="dcterms:W3CDTF">2026-04-05T12:43:55Z</dcterms:modified>
</cp:coreProperties>
</file>